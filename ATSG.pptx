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1" r:id="rId5"/>
    <p:sldId id="262" r:id="rId6"/>
    <p:sldId id="271" r:id="rId7"/>
    <p:sldId id="264" r:id="rId8"/>
    <p:sldId id="266" r:id="rId9"/>
    <p:sldId id="265" r:id="rId10"/>
    <p:sldId id="267" r:id="rId11"/>
    <p:sldId id="268"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9C87AD-9809-49E6-8121-E6AF7C559C40}"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5854FB-8BF7-4C92-A1C5-572986316B52}" type="slidenum">
              <a:rPr lang="en-US" smtClean="0"/>
              <a:t>‹#›</a:t>
            </a:fld>
            <a:endParaRPr lang="en-US"/>
          </a:p>
        </p:txBody>
      </p:sp>
    </p:spTree>
    <p:extLst>
      <p:ext uri="{BB962C8B-B14F-4D97-AF65-F5344CB8AC3E}">
        <p14:creationId xmlns:p14="http://schemas.microsoft.com/office/powerpoint/2010/main" val="59178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Welcome, everyone. This is Automatic Generation of Automated Test Suites. My name is Rye Howard Stone. Feel free to follow along on our GitHub. The link is listed right there, I’ll give you a minute to copy it down if you like. This PowerPoint is actually included in the GitHub along with all of the other code for my project so far.</a:t>
            </a:r>
          </a:p>
        </p:txBody>
      </p:sp>
      <p:sp>
        <p:nvSpPr>
          <p:cNvPr id="4" name="Slide Number Placeholder 3"/>
          <p:cNvSpPr>
            <a:spLocks noGrp="1"/>
          </p:cNvSpPr>
          <p:nvPr>
            <p:ph type="sldNum" sz="quarter" idx="5"/>
          </p:nvPr>
        </p:nvSpPr>
        <p:spPr/>
        <p:txBody>
          <a:bodyPr/>
          <a:lstStyle/>
          <a:p>
            <a:fld id="{57ED6120-B905-44AD-A148-BF2D9EF4AA36}" type="slidenum">
              <a:rPr lang="en-US" smtClean="0"/>
              <a:t>1</a:t>
            </a:fld>
            <a:endParaRPr lang="en-US"/>
          </a:p>
        </p:txBody>
      </p:sp>
    </p:spTree>
    <p:extLst>
      <p:ext uri="{BB962C8B-B14F-4D97-AF65-F5344CB8AC3E}">
        <p14:creationId xmlns:p14="http://schemas.microsoft.com/office/powerpoint/2010/main" val="1436035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the problem? Test suites are incomplete for the most part. On the left you can see a figure 2 from this empirical study where they were searching the word test in all of the Java files in a project and they're able to find that the number of test occurrences drops radically after maybe 3 or 4 and that about half of GitHub repositories have no test cases. On the right you can see a scatter plot from a different publication where it shows the number of developers on a log scale on the x-axis and on the y-axis it's log scale of the number of test cases. And you can see there's not a whole lot of correlation between the number of developers that you have and the number of test cases that you end up with. They also found that something like 60% of the projects they looked at that did have test cases only had maybe 1 to 9 tests.</a:t>
            </a:r>
          </a:p>
        </p:txBody>
      </p:sp>
      <p:sp>
        <p:nvSpPr>
          <p:cNvPr id="4" name="Slide Number Placeholder 3"/>
          <p:cNvSpPr>
            <a:spLocks noGrp="1"/>
          </p:cNvSpPr>
          <p:nvPr>
            <p:ph type="sldNum" sz="quarter" idx="5"/>
          </p:nvPr>
        </p:nvSpPr>
        <p:spPr/>
        <p:txBody>
          <a:bodyPr/>
          <a:lstStyle/>
          <a:p>
            <a:fld id="{57ED6120-B905-44AD-A148-BF2D9EF4AA36}" type="slidenum">
              <a:rPr lang="en-US" smtClean="0"/>
              <a:t>2</a:t>
            </a:fld>
            <a:endParaRPr lang="en-US"/>
          </a:p>
        </p:txBody>
      </p:sp>
    </p:spTree>
    <p:extLst>
      <p:ext uri="{BB962C8B-B14F-4D97-AF65-F5344CB8AC3E}">
        <p14:creationId xmlns:p14="http://schemas.microsoft.com/office/powerpoint/2010/main" val="707509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my project, we're going to be looking at essentially one major research question with several parts. So I'm trying to see whether or not one can improve upon the existing state-of-the-art agentic coding tools test suite refinement abilities using their built-in hooks and slash commands.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a hook is essentially something that intercepts a tool, like a bash command, before or after you do it. And a slash command is essentially an automated prompt macro. More on that later.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two sub-questions that I'm trying to answer here are, does tool-specific guidance improve performance, and if so, which tools? And B, are there robust methods by which agents can cut down on token usage while utilizing these tools?</a:t>
            </a:r>
          </a:p>
          <a:p>
            <a:endParaRPr lang="en-US" dirty="0"/>
          </a:p>
        </p:txBody>
      </p:sp>
      <p:sp>
        <p:nvSpPr>
          <p:cNvPr id="4" name="Slide Number Placeholder 3"/>
          <p:cNvSpPr>
            <a:spLocks noGrp="1"/>
          </p:cNvSpPr>
          <p:nvPr>
            <p:ph type="sldNum" sz="quarter" idx="5"/>
          </p:nvPr>
        </p:nvSpPr>
        <p:spPr/>
        <p:txBody>
          <a:bodyPr/>
          <a:lstStyle/>
          <a:p>
            <a:fld id="{57ED6120-B905-44AD-A148-BF2D9EF4AA36}" type="slidenum">
              <a:rPr lang="en-US" smtClean="0"/>
              <a:t>3</a:t>
            </a:fld>
            <a:endParaRPr lang="en-US"/>
          </a:p>
        </p:txBody>
      </p:sp>
    </p:spTree>
    <p:extLst>
      <p:ext uri="{BB962C8B-B14F-4D97-AF65-F5344CB8AC3E}">
        <p14:creationId xmlns:p14="http://schemas.microsoft.com/office/powerpoint/2010/main" val="1196857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here's a full diagram of the methodology that I've managed to execute so far this semester. I obtained three Python repos with extensive test suites, click, mistune, and schedule. I then removed tests and any trace of them until we reached about 50% coverage for all three repos. I then test four different AI agents, the four combinations of the two models, Opus 4.1 and Sonnet 4.5, with our two strategies, our base prompt and our refine tests slash command. So those four combinations, base cross Opus, refine cross Opus, base cross Sonnet, refine cross Sonnet. I test all of those on each of the three reduced test coverage repos. And then measure a bunch of different things. Coverage, pass rate, number of tests, test per million tokens. And here's a demo that I can show you that will explain a little bit more.</a:t>
            </a:r>
          </a:p>
        </p:txBody>
      </p:sp>
      <p:sp>
        <p:nvSpPr>
          <p:cNvPr id="4" name="Slide Number Placeholder 3"/>
          <p:cNvSpPr>
            <a:spLocks noGrp="1"/>
          </p:cNvSpPr>
          <p:nvPr>
            <p:ph type="sldNum" sz="quarter" idx="5"/>
          </p:nvPr>
        </p:nvSpPr>
        <p:spPr/>
        <p:txBody>
          <a:bodyPr/>
          <a:lstStyle/>
          <a:p>
            <a:fld id="{57ED6120-B905-44AD-A148-BF2D9EF4AA36}" type="slidenum">
              <a:rPr lang="en-US" smtClean="0"/>
              <a:t>4</a:t>
            </a:fld>
            <a:endParaRPr lang="en-US"/>
          </a:p>
        </p:txBody>
      </p:sp>
    </p:spTree>
    <p:extLst>
      <p:ext uri="{BB962C8B-B14F-4D97-AF65-F5344CB8AC3E}">
        <p14:creationId xmlns:p14="http://schemas.microsoft.com/office/powerpoint/2010/main" val="3202620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Okay, and as you can see, unfortunately, so far, my result is a negative one. So the base model actually does better. The refinement command is not effective as written. It exceeds the performance of the base models a little bit in some cases. You can see the refined models are these darker colors. The red and blue. The lighter red and lighter blue are the two base models. And you can see there really isn't a consistent pattern as to one doing better than the other. You can see in Mistune, it actually looks like we had the reverse. The base was significantly better than refined. In Schedule, we actually see the same thing. In Qlik, it looks like base and refined for Sonnet did about as well in terms of final test coverage. There's, of course, the test suite quality. The total number of tests generated, of course, was more for the refined model, but fewer of them passed. So you can see the test per token is about on par. So we really didn't do much better than just feeding a very basic prompt. However, we did set up an extensive testing framework, so future things will be easier to test.</a:t>
            </a:r>
          </a:p>
          <a:p>
            <a:endParaRPr lang="en-US" dirty="0"/>
          </a:p>
        </p:txBody>
      </p:sp>
      <p:sp>
        <p:nvSpPr>
          <p:cNvPr id="4" name="Slide Number Placeholder 3"/>
          <p:cNvSpPr>
            <a:spLocks noGrp="1"/>
          </p:cNvSpPr>
          <p:nvPr>
            <p:ph type="sldNum" sz="quarter" idx="5"/>
          </p:nvPr>
        </p:nvSpPr>
        <p:spPr/>
        <p:txBody>
          <a:bodyPr/>
          <a:lstStyle/>
          <a:p>
            <a:fld id="{57ED6120-B905-44AD-A148-BF2D9EF4AA36}" type="slidenum">
              <a:rPr lang="en-US" smtClean="0"/>
              <a:t>5</a:t>
            </a:fld>
            <a:endParaRPr lang="en-US"/>
          </a:p>
        </p:txBody>
      </p:sp>
    </p:spTree>
    <p:extLst>
      <p:ext uri="{BB962C8B-B14F-4D97-AF65-F5344CB8AC3E}">
        <p14:creationId xmlns:p14="http://schemas.microsoft.com/office/powerpoint/2010/main" val="3685287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19184-7E13-86E0-FFB1-4A62066AA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50CD6-A8F3-44C7-1D2B-C39C5DF0F51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FB87DD0-3623-A716-6778-33FE33AA05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BBFD1B-ABB2-4B8F-BB18-BC9F20969E19}"/>
              </a:ext>
            </a:extLst>
          </p:cNvPr>
          <p:cNvSpPr>
            <a:spLocks noGrp="1"/>
          </p:cNvSpPr>
          <p:nvPr>
            <p:ph type="sldNum" sz="quarter" idx="5"/>
          </p:nvPr>
        </p:nvSpPr>
        <p:spPr/>
        <p:txBody>
          <a:bodyPr/>
          <a:lstStyle/>
          <a:p>
            <a:fld id="{57ED6120-B905-44AD-A148-BF2D9EF4AA36}" type="slidenum">
              <a:rPr lang="en-US" smtClean="0"/>
              <a:t>7</a:t>
            </a:fld>
            <a:endParaRPr lang="en-US"/>
          </a:p>
        </p:txBody>
      </p:sp>
    </p:spTree>
    <p:extLst>
      <p:ext uri="{BB962C8B-B14F-4D97-AF65-F5344CB8AC3E}">
        <p14:creationId xmlns:p14="http://schemas.microsoft.com/office/powerpoint/2010/main" val="2771078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EDF88-D980-4135-386F-1B18A3430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D870E-1DC0-0DCF-1F94-B0EC6C832B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4E05D1-FE8A-3284-54C9-3241E64237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BDAEC6-2433-09BC-FA00-A2BE83731721}"/>
              </a:ext>
            </a:extLst>
          </p:cNvPr>
          <p:cNvSpPr>
            <a:spLocks noGrp="1"/>
          </p:cNvSpPr>
          <p:nvPr>
            <p:ph type="sldNum" sz="quarter" idx="5"/>
          </p:nvPr>
        </p:nvSpPr>
        <p:spPr/>
        <p:txBody>
          <a:bodyPr/>
          <a:lstStyle/>
          <a:p>
            <a:fld id="{57ED6120-B905-44AD-A148-BF2D9EF4AA36}" type="slidenum">
              <a:rPr lang="en-US" smtClean="0"/>
              <a:t>8</a:t>
            </a:fld>
            <a:endParaRPr lang="en-US"/>
          </a:p>
        </p:txBody>
      </p:sp>
    </p:spTree>
    <p:extLst>
      <p:ext uri="{BB962C8B-B14F-4D97-AF65-F5344CB8AC3E}">
        <p14:creationId xmlns:p14="http://schemas.microsoft.com/office/powerpoint/2010/main" val="1533106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4408D-A943-431C-99F0-1DDC5C308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966D5-7019-0EE4-D039-6BB04044329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4E74AA-8C53-6A72-DC78-AA8ECD9FF6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B80E95-6BA4-7F3A-4957-510734629AAE}"/>
              </a:ext>
            </a:extLst>
          </p:cNvPr>
          <p:cNvSpPr>
            <a:spLocks noGrp="1"/>
          </p:cNvSpPr>
          <p:nvPr>
            <p:ph type="sldNum" sz="quarter" idx="5"/>
          </p:nvPr>
        </p:nvSpPr>
        <p:spPr/>
        <p:txBody>
          <a:bodyPr/>
          <a:lstStyle/>
          <a:p>
            <a:fld id="{57ED6120-B905-44AD-A148-BF2D9EF4AA36}" type="slidenum">
              <a:rPr lang="en-US" smtClean="0"/>
              <a:t>9</a:t>
            </a:fld>
            <a:endParaRPr lang="en-US"/>
          </a:p>
        </p:txBody>
      </p:sp>
    </p:spTree>
    <p:extLst>
      <p:ext uri="{BB962C8B-B14F-4D97-AF65-F5344CB8AC3E}">
        <p14:creationId xmlns:p14="http://schemas.microsoft.com/office/powerpoint/2010/main" val="1537366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27F75-D21A-8DA6-E621-99037F2FD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D6325-5985-C2A0-D734-1A8413DB3F4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14A746-63A2-7432-7258-253ED20640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CB802B-F3C6-B07E-7CB1-0FEFB7E257F1}"/>
              </a:ext>
            </a:extLst>
          </p:cNvPr>
          <p:cNvSpPr>
            <a:spLocks noGrp="1"/>
          </p:cNvSpPr>
          <p:nvPr>
            <p:ph type="sldNum" sz="quarter" idx="5"/>
          </p:nvPr>
        </p:nvSpPr>
        <p:spPr/>
        <p:txBody>
          <a:bodyPr/>
          <a:lstStyle/>
          <a:p>
            <a:fld id="{57ED6120-B905-44AD-A148-BF2D9EF4AA36}" type="slidenum">
              <a:rPr lang="en-US" smtClean="0"/>
              <a:t>10</a:t>
            </a:fld>
            <a:endParaRPr lang="en-US"/>
          </a:p>
        </p:txBody>
      </p:sp>
    </p:spTree>
    <p:extLst>
      <p:ext uri="{BB962C8B-B14F-4D97-AF65-F5344CB8AC3E}">
        <p14:creationId xmlns:p14="http://schemas.microsoft.com/office/powerpoint/2010/main" val="3095610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06D56-6B85-52BF-71AD-9184A0E05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0938F3-AC7C-99D8-4170-19553998895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4DD04B-9F78-1593-A38A-24202A4859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8A8EBD-62D9-9B40-6C2C-CD82F32E6644}"/>
              </a:ext>
            </a:extLst>
          </p:cNvPr>
          <p:cNvSpPr>
            <a:spLocks noGrp="1"/>
          </p:cNvSpPr>
          <p:nvPr>
            <p:ph type="sldNum" sz="quarter" idx="5"/>
          </p:nvPr>
        </p:nvSpPr>
        <p:spPr/>
        <p:txBody>
          <a:bodyPr/>
          <a:lstStyle/>
          <a:p>
            <a:fld id="{57ED6120-B905-44AD-A148-BF2D9EF4AA36}" type="slidenum">
              <a:rPr lang="en-US" smtClean="0"/>
              <a:t>11</a:t>
            </a:fld>
            <a:endParaRPr lang="en-US"/>
          </a:p>
        </p:txBody>
      </p:sp>
    </p:spTree>
    <p:extLst>
      <p:ext uri="{BB962C8B-B14F-4D97-AF65-F5344CB8AC3E}">
        <p14:creationId xmlns:p14="http://schemas.microsoft.com/office/powerpoint/2010/main" val="2878729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EFD4F-A658-8150-5326-DF9AFAD1E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0EE5A-FF4E-895B-181D-B4CDCC2261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EFA4A7-F14F-E971-6A6B-0F7DFBA4E2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35503B-FBFA-B757-BF4A-3EF5D85DCDF6}"/>
              </a:ext>
            </a:extLst>
          </p:cNvPr>
          <p:cNvSpPr>
            <a:spLocks noGrp="1"/>
          </p:cNvSpPr>
          <p:nvPr>
            <p:ph type="sldNum" sz="quarter" idx="5"/>
          </p:nvPr>
        </p:nvSpPr>
        <p:spPr/>
        <p:txBody>
          <a:bodyPr/>
          <a:lstStyle/>
          <a:p>
            <a:fld id="{57ED6120-B905-44AD-A148-BF2D9EF4AA36}" type="slidenum">
              <a:rPr lang="en-US" smtClean="0"/>
              <a:t>12</a:t>
            </a:fld>
            <a:endParaRPr lang="en-US"/>
          </a:p>
        </p:txBody>
      </p:sp>
    </p:spTree>
    <p:extLst>
      <p:ext uri="{BB962C8B-B14F-4D97-AF65-F5344CB8AC3E}">
        <p14:creationId xmlns:p14="http://schemas.microsoft.com/office/powerpoint/2010/main" val="1110478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7F4BB-9409-699D-5F96-6FE7828806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BC3F37-CAAA-9F45-AE37-A1C8EB5966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0C207F-13F7-EF8C-01E8-A4AAEA627FA6}"/>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5" name="Footer Placeholder 4">
            <a:extLst>
              <a:ext uri="{FF2B5EF4-FFF2-40B4-BE49-F238E27FC236}">
                <a16:creationId xmlns:a16="http://schemas.microsoft.com/office/drawing/2014/main" id="{FDFFB0BD-7180-0A47-A5A6-267A694BF0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F49731-DF67-F1AD-3730-BC61E8818FD3}"/>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1177102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87DA4-4F9D-4289-89BF-7D02795A03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FE4CFC-1812-D21F-A458-5FC8C5864A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D9BC5A-D5DC-487C-D4F1-BC6D7BD42CC8}"/>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5" name="Footer Placeholder 4">
            <a:extLst>
              <a:ext uri="{FF2B5EF4-FFF2-40B4-BE49-F238E27FC236}">
                <a16:creationId xmlns:a16="http://schemas.microsoft.com/office/drawing/2014/main" id="{A3A6F042-B853-E056-9720-EC95406041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77FAFD-870F-8F5F-D802-5B3DBB042A52}"/>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74198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0E0F0-1F05-FBFD-52A2-9D76811A4D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A29A30-6B13-2C86-CF67-F29C782E55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B19A92-751C-5DA5-F561-4C5F986B780B}"/>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5" name="Footer Placeholder 4">
            <a:extLst>
              <a:ext uri="{FF2B5EF4-FFF2-40B4-BE49-F238E27FC236}">
                <a16:creationId xmlns:a16="http://schemas.microsoft.com/office/drawing/2014/main" id="{806EE6C5-1C35-A7AE-2485-6EB60C5897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3CF751-FFEB-0488-A8B2-52D582E6FAF9}"/>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16309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7B813-DF61-6B33-A86A-56BD54F2A1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6AFBDA-C297-4C0A-6D14-82BF8682B1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6D247C-F927-DD68-9C97-2B48B5ACE4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55074-5987-B87D-F46B-CCBCFB33DC5D}"/>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6" name="Footer Placeholder 5">
            <a:extLst>
              <a:ext uri="{FF2B5EF4-FFF2-40B4-BE49-F238E27FC236}">
                <a16:creationId xmlns:a16="http://schemas.microsoft.com/office/drawing/2014/main" id="{6C002674-12E0-2BAC-F0E0-720C0FC138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570BE7-7BD0-4690-B646-205927690F65}"/>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3979522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37E8C-E2B9-BE4F-70AA-96DD0FC1770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C822AC-EA91-4A34-4FB2-688EC841F8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712DBB-B9BC-1D5E-827A-48C54E40E9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D80BC9-B64C-9F8F-05ED-DB0F8C56E2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027A69-6A38-2030-79D9-5B4E1B1D95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33B8FC-6CA1-E6CE-EB0A-F41F849AFE09}"/>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8" name="Footer Placeholder 7">
            <a:extLst>
              <a:ext uri="{FF2B5EF4-FFF2-40B4-BE49-F238E27FC236}">
                <a16:creationId xmlns:a16="http://schemas.microsoft.com/office/drawing/2014/main" id="{F126E1D6-B4A6-79D7-1D5E-CB89E36755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889E79-7B0C-A358-9FD6-8BE4759F63C9}"/>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3754393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EC0F6-3690-7D98-A19F-C0E8D45C8C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01B886-5A56-4FBB-6D59-7FB2DD0BB872}"/>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4" name="Footer Placeholder 3">
            <a:extLst>
              <a:ext uri="{FF2B5EF4-FFF2-40B4-BE49-F238E27FC236}">
                <a16:creationId xmlns:a16="http://schemas.microsoft.com/office/drawing/2014/main" id="{F60A6FE7-13D4-C9DC-DDF1-F78227240F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9EDDC1-E954-2991-F8E3-F847FE2B896C}"/>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2444980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B737FC-5537-A36F-7AEF-0D22543288DB}"/>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3" name="Footer Placeholder 2">
            <a:extLst>
              <a:ext uri="{FF2B5EF4-FFF2-40B4-BE49-F238E27FC236}">
                <a16:creationId xmlns:a16="http://schemas.microsoft.com/office/drawing/2014/main" id="{ED1FC8DF-94C2-40EB-2F6B-6BF546679D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BFE124-E5D5-AE9E-C86D-B74AE69CD298}"/>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1050268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B0415-DBB4-AFDF-EF4D-8133A11FFA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83F8DD-18BC-AAAF-8798-2F766CC758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8D495E-A8FA-428F-30AA-3A0B59E236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41F17C-9F07-6D48-81F9-A239EFAE799C}"/>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6" name="Footer Placeholder 5">
            <a:extLst>
              <a:ext uri="{FF2B5EF4-FFF2-40B4-BE49-F238E27FC236}">
                <a16:creationId xmlns:a16="http://schemas.microsoft.com/office/drawing/2014/main" id="{E76F779E-843F-4A55-FE25-B9035A60B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270F23-9981-8A4F-BC99-BF9571C04F04}"/>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3732491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E684B-9EFE-5E99-EBD9-8A70EB7700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0A7D88-4668-9685-83D0-B8C4407978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A2B06D-2255-E599-8B53-8D8049E3B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7A4816-91CB-00F6-CD8C-8C6C96204C72}"/>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6" name="Footer Placeholder 5">
            <a:extLst>
              <a:ext uri="{FF2B5EF4-FFF2-40B4-BE49-F238E27FC236}">
                <a16:creationId xmlns:a16="http://schemas.microsoft.com/office/drawing/2014/main" id="{DFDB07A3-9384-8857-46CF-B4553618EB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88A0F6-2C5D-E6C4-9054-73D10E2B6B41}"/>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19132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B289F-752E-7DAF-EDD9-13E2981571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F632EC-872F-81FA-08F7-F635422FB9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DCC85-602E-7456-83B8-438D058E0DB1}"/>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5" name="Footer Placeholder 4">
            <a:extLst>
              <a:ext uri="{FF2B5EF4-FFF2-40B4-BE49-F238E27FC236}">
                <a16:creationId xmlns:a16="http://schemas.microsoft.com/office/drawing/2014/main" id="{39F2802B-FF30-843E-A158-A7238B50DE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4D8967-B159-5F32-A17F-D07D081C7D4B}"/>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108191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62D076-E6ED-37BC-B2C8-64452E639F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9A2595-EBF7-37DC-9E0F-3994C99600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469AA-BE18-6287-C3B2-01B1891ECD56}"/>
              </a:ext>
            </a:extLst>
          </p:cNvPr>
          <p:cNvSpPr>
            <a:spLocks noGrp="1"/>
          </p:cNvSpPr>
          <p:nvPr>
            <p:ph type="dt" sz="half" idx="10"/>
          </p:nvPr>
        </p:nvSpPr>
        <p:spPr/>
        <p:txBody>
          <a:bodyPr/>
          <a:lstStyle/>
          <a:p>
            <a:fld id="{E5A41C0E-445A-4DAB-943D-1CAFFC0E092A}" type="datetimeFigureOut">
              <a:rPr lang="en-US" smtClean="0"/>
              <a:t>11/29/2025</a:t>
            </a:fld>
            <a:endParaRPr lang="en-US"/>
          </a:p>
        </p:txBody>
      </p:sp>
      <p:sp>
        <p:nvSpPr>
          <p:cNvPr id="5" name="Footer Placeholder 4">
            <a:extLst>
              <a:ext uri="{FF2B5EF4-FFF2-40B4-BE49-F238E27FC236}">
                <a16:creationId xmlns:a16="http://schemas.microsoft.com/office/drawing/2014/main" id="{E1FDF0EE-0DDE-14BA-B9E7-8A365480F3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EE6989-2FF7-32FF-C2F8-8CC55D3EDC1E}"/>
              </a:ext>
            </a:extLst>
          </p:cNvPr>
          <p:cNvSpPr>
            <a:spLocks noGrp="1"/>
          </p:cNvSpPr>
          <p:nvPr>
            <p:ph type="sldNum" sz="quarter" idx="12"/>
          </p:nvPr>
        </p:nvSpPr>
        <p:spPr/>
        <p:txBody>
          <a:bodyPr/>
          <a:lstStyle/>
          <a:p>
            <a:fld id="{DF78B76F-2233-4FCD-BF9B-ABA8F8D57B22}" type="slidenum">
              <a:rPr lang="en-US" smtClean="0"/>
              <a:t>‹#›</a:t>
            </a:fld>
            <a:endParaRPr lang="en-US"/>
          </a:p>
        </p:txBody>
      </p:sp>
    </p:spTree>
    <p:extLst>
      <p:ext uri="{BB962C8B-B14F-4D97-AF65-F5344CB8AC3E}">
        <p14:creationId xmlns:p14="http://schemas.microsoft.com/office/powerpoint/2010/main" val="345930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B3A125-B698-8F38-7286-C35C827587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B7B046-A23C-6C99-7CFF-E5A3B0AC58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E86D4C-080E-3F0B-FD34-0171F64874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A41C0E-445A-4DAB-943D-1CAFFC0E092A}" type="datetimeFigureOut">
              <a:rPr lang="en-US" smtClean="0"/>
              <a:t>11/29/2025</a:t>
            </a:fld>
            <a:endParaRPr lang="en-US"/>
          </a:p>
        </p:txBody>
      </p:sp>
      <p:sp>
        <p:nvSpPr>
          <p:cNvPr id="5" name="Footer Placeholder 4">
            <a:extLst>
              <a:ext uri="{FF2B5EF4-FFF2-40B4-BE49-F238E27FC236}">
                <a16:creationId xmlns:a16="http://schemas.microsoft.com/office/drawing/2014/main" id="{42A19A78-DA15-57B4-A6B2-0EF0135D46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EC05C8-C782-292C-9B8F-7A95D76A6B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78B76F-2233-4FCD-BF9B-ABA8F8D57B22}" type="slidenum">
              <a:rPr lang="en-US" smtClean="0"/>
              <a:t>‹#›</a:t>
            </a:fld>
            <a:endParaRPr lang="en-US"/>
          </a:p>
        </p:txBody>
      </p:sp>
    </p:spTree>
    <p:extLst>
      <p:ext uri="{BB962C8B-B14F-4D97-AF65-F5344CB8AC3E}">
        <p14:creationId xmlns:p14="http://schemas.microsoft.com/office/powerpoint/2010/main" val="1582456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rhowardstone/ats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rhowardstone/testScou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researchgate.net/publication/353742712_Empirical_Study_of_Test_Case_and_Test_Framework_Presence_in_Public_Projects_on_GitHub" TargetMode="External"/><Relationship Id="rId5" Type="http://schemas.openxmlformats.org/officeDocument/2006/relationships/hyperlink" Target="https://www.researchgate.net/publication/261355752_Adoption_of_Software_Testing_in_Open_Source_Projects--A_Preliminary_Study_on_50000_Projects"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microsoft.com/office/2007/relationships/hdphoto" Target="../media/hdphoto1.wdp"/><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hyperlink" Target="https://kaltura.uconn.edu/media/Kaltura+Capture+recording+-+October+6th+2025%2C+8%3A39%3A54+am/1_565tve3c"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rhowardstone/testScout/blob/main/examples/audits.zi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8733C-A948-A2A5-C2C0-BE33CAEDDEA9}"/>
              </a:ext>
            </a:extLst>
          </p:cNvPr>
          <p:cNvSpPr>
            <a:spLocks noGrp="1"/>
          </p:cNvSpPr>
          <p:nvPr>
            <p:ph type="ctrTitle"/>
          </p:nvPr>
        </p:nvSpPr>
        <p:spPr/>
        <p:txBody>
          <a:bodyPr>
            <a:normAutofit/>
          </a:bodyPr>
          <a:lstStyle/>
          <a:p>
            <a:r>
              <a:rPr lang="en-US" dirty="0"/>
              <a:t>Automated Test Suite Generation</a:t>
            </a:r>
          </a:p>
        </p:txBody>
      </p:sp>
      <p:sp>
        <p:nvSpPr>
          <p:cNvPr id="3" name="Subtitle 2">
            <a:extLst>
              <a:ext uri="{FF2B5EF4-FFF2-40B4-BE49-F238E27FC236}">
                <a16:creationId xmlns:a16="http://schemas.microsoft.com/office/drawing/2014/main" id="{1DF084F0-44B8-4B45-C1A0-9CA60D3134A8}"/>
              </a:ext>
            </a:extLst>
          </p:cNvPr>
          <p:cNvSpPr>
            <a:spLocks noGrp="1"/>
          </p:cNvSpPr>
          <p:nvPr>
            <p:ph type="subTitle" idx="1"/>
          </p:nvPr>
        </p:nvSpPr>
        <p:spPr>
          <a:xfrm>
            <a:off x="1524000" y="3602037"/>
            <a:ext cx="9144000" cy="3255963"/>
          </a:xfrm>
        </p:spPr>
        <p:txBody>
          <a:bodyPr>
            <a:normAutofit/>
          </a:bodyPr>
          <a:lstStyle/>
          <a:p>
            <a:r>
              <a:rPr lang="en-US" dirty="0"/>
              <a:t>Rye Howard-Stone</a:t>
            </a:r>
          </a:p>
          <a:p>
            <a:r>
              <a:rPr lang="en-US" dirty="0"/>
              <a:t>CSE 5095: AI for Software Engineering</a:t>
            </a:r>
          </a:p>
          <a:p>
            <a:endParaRPr lang="en-US" dirty="0"/>
          </a:p>
          <a:p>
            <a:r>
              <a:rPr lang="en-US" dirty="0">
                <a:hlinkClick r:id="rId3"/>
              </a:rPr>
              <a:t>https://github.com/rhowardstone/atsr</a:t>
            </a:r>
            <a:endParaRPr lang="en-US" dirty="0"/>
          </a:p>
          <a:p>
            <a:r>
              <a:rPr lang="en-US" sz="1600" dirty="0"/>
              <a:t>Feel free to follow along (this PPTX included in GitHub)</a:t>
            </a:r>
          </a:p>
          <a:p>
            <a:endParaRPr lang="en-US" sz="1600" dirty="0"/>
          </a:p>
          <a:p>
            <a:endParaRPr lang="en-US" sz="1600" dirty="0"/>
          </a:p>
          <a:p>
            <a:r>
              <a:rPr lang="en-US" sz="1400" dirty="0"/>
              <a:t>For </a:t>
            </a:r>
            <a:r>
              <a:rPr lang="en-US" sz="1400" dirty="0" err="1"/>
              <a:t>testScout</a:t>
            </a:r>
            <a:r>
              <a:rPr lang="en-US" sz="1400" dirty="0"/>
              <a:t>, please see:    </a:t>
            </a:r>
            <a:r>
              <a:rPr lang="en-US" sz="1400" dirty="0">
                <a:hlinkClick r:id="rId4"/>
              </a:rPr>
              <a:t>https://github.com/rhowardstone/testScout</a:t>
            </a:r>
            <a:endParaRPr lang="en-US" sz="1400" dirty="0"/>
          </a:p>
          <a:p>
            <a:endParaRPr lang="en-US" dirty="0"/>
          </a:p>
        </p:txBody>
      </p:sp>
    </p:spTree>
    <p:extLst>
      <p:ext uri="{BB962C8B-B14F-4D97-AF65-F5344CB8AC3E}">
        <p14:creationId xmlns:p14="http://schemas.microsoft.com/office/powerpoint/2010/main" val="1778794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4188E-993E-5DDE-D0B6-4198B4EBA6FD}"/>
              </a:ext>
            </a:extLst>
          </p:cNvPr>
          <p:cNvSpPr>
            <a:spLocks noGrp="1"/>
          </p:cNvSpPr>
          <p:nvPr>
            <p:ph type="title"/>
          </p:nvPr>
        </p:nvSpPr>
        <p:spPr>
          <a:xfrm>
            <a:off x="0" y="0"/>
            <a:ext cx="10515600" cy="1325563"/>
          </a:xfrm>
        </p:spPr>
        <p:txBody>
          <a:bodyPr/>
          <a:lstStyle/>
          <a:p>
            <a:r>
              <a:rPr lang="en-US" dirty="0"/>
              <a:t>     Problem: Test Suites are Incomplete</a:t>
            </a:r>
          </a:p>
        </p:txBody>
      </p:sp>
      <p:pic>
        <p:nvPicPr>
          <p:cNvPr id="5" name="Picture 4">
            <a:extLst>
              <a:ext uri="{FF2B5EF4-FFF2-40B4-BE49-F238E27FC236}">
                <a16:creationId xmlns:a16="http://schemas.microsoft.com/office/drawing/2014/main" id="{666ADAA4-D979-4DF6-EFF2-1F295602F00F}"/>
              </a:ext>
            </a:extLst>
          </p:cNvPr>
          <p:cNvPicPr>
            <a:picLocks noChangeAspect="1"/>
          </p:cNvPicPr>
          <p:nvPr/>
        </p:nvPicPr>
        <p:blipFill>
          <a:blip r:embed="rId3"/>
          <a:stretch>
            <a:fillRect/>
          </a:stretch>
        </p:blipFill>
        <p:spPr>
          <a:xfrm>
            <a:off x="7277462" y="1645017"/>
            <a:ext cx="4674070" cy="3127440"/>
          </a:xfrm>
          <a:prstGeom prst="rect">
            <a:avLst/>
          </a:prstGeom>
        </p:spPr>
      </p:pic>
      <p:pic>
        <p:nvPicPr>
          <p:cNvPr id="9" name="Picture 8">
            <a:extLst>
              <a:ext uri="{FF2B5EF4-FFF2-40B4-BE49-F238E27FC236}">
                <a16:creationId xmlns:a16="http://schemas.microsoft.com/office/drawing/2014/main" id="{66A1C1E8-216B-C7D7-11E8-D540BAA51FF1}"/>
              </a:ext>
            </a:extLst>
          </p:cNvPr>
          <p:cNvPicPr>
            <a:picLocks noChangeAspect="1"/>
          </p:cNvPicPr>
          <p:nvPr/>
        </p:nvPicPr>
        <p:blipFill>
          <a:blip r:embed="rId4"/>
          <a:stretch>
            <a:fillRect/>
          </a:stretch>
        </p:blipFill>
        <p:spPr>
          <a:xfrm>
            <a:off x="93959" y="1645017"/>
            <a:ext cx="7183503" cy="3410474"/>
          </a:xfrm>
          <a:prstGeom prst="rect">
            <a:avLst/>
          </a:prstGeom>
        </p:spPr>
      </p:pic>
      <p:sp>
        <p:nvSpPr>
          <p:cNvPr id="3" name="Content Placeholder 2">
            <a:extLst>
              <a:ext uri="{FF2B5EF4-FFF2-40B4-BE49-F238E27FC236}">
                <a16:creationId xmlns:a16="http://schemas.microsoft.com/office/drawing/2014/main" id="{CDE44F77-5D94-82B2-2108-C1A45D2B4842}"/>
              </a:ext>
            </a:extLst>
          </p:cNvPr>
          <p:cNvSpPr>
            <a:spLocks noGrp="1"/>
          </p:cNvSpPr>
          <p:nvPr>
            <p:ph idx="1"/>
          </p:nvPr>
        </p:nvSpPr>
        <p:spPr>
          <a:xfrm>
            <a:off x="8195289" y="4735643"/>
            <a:ext cx="2838416" cy="319848"/>
          </a:xfrm>
        </p:spPr>
        <p:txBody>
          <a:bodyPr>
            <a:normAutofit fontScale="92500" lnSpcReduction="20000"/>
          </a:bodyPr>
          <a:lstStyle/>
          <a:p>
            <a:pPr marL="0" indent="0">
              <a:buNone/>
            </a:pPr>
            <a:r>
              <a:rPr lang="en-US" sz="1100" dirty="0">
                <a:hlinkClick r:id="rId5"/>
              </a:rPr>
              <a:t>Adoption of Software Testing in Open Source Projects--A Preliminary Study on 50,000 Projects</a:t>
            </a:r>
            <a:endParaRPr lang="en-US" sz="1100" dirty="0"/>
          </a:p>
        </p:txBody>
      </p:sp>
      <p:sp>
        <p:nvSpPr>
          <p:cNvPr id="7" name="TextBox 6">
            <a:extLst>
              <a:ext uri="{FF2B5EF4-FFF2-40B4-BE49-F238E27FC236}">
                <a16:creationId xmlns:a16="http://schemas.microsoft.com/office/drawing/2014/main" id="{953BE6C4-664E-5361-3D11-2F3B30E8942A}"/>
              </a:ext>
            </a:extLst>
          </p:cNvPr>
          <p:cNvSpPr txBox="1"/>
          <p:nvPr/>
        </p:nvSpPr>
        <p:spPr>
          <a:xfrm>
            <a:off x="983479" y="4754127"/>
            <a:ext cx="5257800" cy="246221"/>
          </a:xfrm>
          <a:prstGeom prst="rect">
            <a:avLst/>
          </a:prstGeom>
          <a:noFill/>
        </p:spPr>
        <p:txBody>
          <a:bodyPr wrap="square">
            <a:spAutoFit/>
          </a:bodyPr>
          <a:lstStyle/>
          <a:p>
            <a:r>
              <a:rPr lang="en-US" sz="1000" dirty="0">
                <a:hlinkClick r:id="rId6"/>
              </a:rPr>
              <a:t>Empirical Study of Test Case and Test Framework Presence in Public Projects on GitHub</a:t>
            </a:r>
            <a:endParaRPr lang="en-US" sz="1000" dirty="0"/>
          </a:p>
        </p:txBody>
      </p:sp>
      <p:sp>
        <p:nvSpPr>
          <p:cNvPr id="10" name="TextBox 9">
            <a:extLst>
              <a:ext uri="{FF2B5EF4-FFF2-40B4-BE49-F238E27FC236}">
                <a16:creationId xmlns:a16="http://schemas.microsoft.com/office/drawing/2014/main" id="{5825AECE-FAE8-902E-A1B7-3D8B8A3A26F0}"/>
              </a:ext>
            </a:extLst>
          </p:cNvPr>
          <p:cNvSpPr txBox="1"/>
          <p:nvPr/>
        </p:nvSpPr>
        <p:spPr>
          <a:xfrm>
            <a:off x="1421295" y="5113547"/>
            <a:ext cx="4528829" cy="646331"/>
          </a:xfrm>
          <a:prstGeom prst="rect">
            <a:avLst/>
          </a:prstGeom>
          <a:noFill/>
        </p:spPr>
        <p:txBody>
          <a:bodyPr wrap="square" rtlCol="0">
            <a:spAutoFit/>
          </a:bodyPr>
          <a:lstStyle/>
          <a:p>
            <a:pPr marL="285750" indent="-285750">
              <a:buFont typeface="Arial" panose="020B0604020202020204" pitchFamily="34" charset="0"/>
              <a:buChar char="•"/>
            </a:pPr>
            <a:r>
              <a:rPr lang="en-US" dirty="0"/>
              <a:t>Only 52% of 6.3M public GitHub projects contain at least one test case.</a:t>
            </a:r>
          </a:p>
        </p:txBody>
      </p:sp>
      <p:sp>
        <p:nvSpPr>
          <p:cNvPr id="11" name="TextBox 10">
            <a:extLst>
              <a:ext uri="{FF2B5EF4-FFF2-40B4-BE49-F238E27FC236}">
                <a16:creationId xmlns:a16="http://schemas.microsoft.com/office/drawing/2014/main" id="{03371A3E-17D1-0ED4-D4C6-09EA879D329A}"/>
              </a:ext>
            </a:extLst>
          </p:cNvPr>
          <p:cNvSpPr txBox="1"/>
          <p:nvPr/>
        </p:nvSpPr>
        <p:spPr>
          <a:xfrm>
            <a:off x="7136396" y="5113547"/>
            <a:ext cx="4961645" cy="646331"/>
          </a:xfrm>
          <a:prstGeom prst="rect">
            <a:avLst/>
          </a:prstGeom>
          <a:noFill/>
        </p:spPr>
        <p:txBody>
          <a:bodyPr wrap="square" rtlCol="0">
            <a:spAutoFit/>
          </a:bodyPr>
          <a:lstStyle/>
          <a:p>
            <a:pPr marL="285750" indent="-285750">
              <a:buFont typeface="Arial" panose="020B0604020202020204" pitchFamily="34" charset="0"/>
              <a:buChar char="•"/>
            </a:pPr>
            <a:r>
              <a:rPr lang="en-US" dirty="0"/>
              <a:t>56.81% of 50K open source GitHub projects that </a:t>
            </a:r>
            <a:r>
              <a:rPr lang="en-US" i="1" dirty="0"/>
              <a:t>do</a:t>
            </a:r>
            <a:r>
              <a:rPr lang="en-US" dirty="0"/>
              <a:t> have test cases have only 1-9 tests.</a:t>
            </a:r>
          </a:p>
        </p:txBody>
      </p:sp>
    </p:spTree>
    <p:extLst>
      <p:ext uri="{BB962C8B-B14F-4D97-AF65-F5344CB8AC3E}">
        <p14:creationId xmlns:p14="http://schemas.microsoft.com/office/powerpoint/2010/main" val="1654921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D80B4-9290-B1F4-D1CB-98372F6E46DB}"/>
              </a:ext>
            </a:extLst>
          </p:cNvPr>
          <p:cNvSpPr>
            <a:spLocks noGrp="1"/>
          </p:cNvSpPr>
          <p:nvPr>
            <p:ph type="title"/>
          </p:nvPr>
        </p:nvSpPr>
        <p:spPr>
          <a:xfrm>
            <a:off x="0" y="0"/>
            <a:ext cx="10515600" cy="1325563"/>
          </a:xfrm>
        </p:spPr>
        <p:txBody>
          <a:bodyPr/>
          <a:lstStyle/>
          <a:p>
            <a:r>
              <a:rPr lang="en-US" dirty="0"/>
              <a:t>     The Question (midterm recap)</a:t>
            </a:r>
          </a:p>
        </p:txBody>
      </p:sp>
      <p:sp>
        <p:nvSpPr>
          <p:cNvPr id="3" name="Content Placeholder 2">
            <a:extLst>
              <a:ext uri="{FF2B5EF4-FFF2-40B4-BE49-F238E27FC236}">
                <a16:creationId xmlns:a16="http://schemas.microsoft.com/office/drawing/2014/main" id="{E07D2E42-2B0C-37C5-8B54-57A068D965D0}"/>
              </a:ext>
            </a:extLst>
          </p:cNvPr>
          <p:cNvSpPr>
            <a:spLocks noGrp="1"/>
          </p:cNvSpPr>
          <p:nvPr>
            <p:ph idx="1"/>
          </p:nvPr>
        </p:nvSpPr>
        <p:spPr>
          <a:xfrm>
            <a:off x="838200" y="2413454"/>
            <a:ext cx="10515600" cy="2572204"/>
          </a:xfrm>
        </p:spPr>
        <p:txBody>
          <a:bodyPr>
            <a:normAutofit lnSpcReduction="10000"/>
          </a:bodyPr>
          <a:lstStyle/>
          <a:p>
            <a:r>
              <a:rPr lang="en-US" dirty="0"/>
              <a:t>Can we improve upon existing state-of-the-art agentic coding tools’ test suite refinement abilities using hooks and slash commands*? (RQ1)</a:t>
            </a:r>
          </a:p>
          <a:p>
            <a:pPr lvl="1"/>
            <a:r>
              <a:rPr lang="en-US" dirty="0"/>
              <a:t>Does tool-specific guidance improve performance? If so, which tools? (RQ1A)</a:t>
            </a:r>
          </a:p>
          <a:p>
            <a:pPr lvl="1"/>
            <a:r>
              <a:rPr lang="en-US" dirty="0"/>
              <a:t>Are there robust methods by which agents can cut down on token usage while utilizing these tools? (RQ1B)</a:t>
            </a:r>
          </a:p>
        </p:txBody>
      </p:sp>
      <p:sp>
        <p:nvSpPr>
          <p:cNvPr id="4" name="Content Placeholder 2">
            <a:extLst>
              <a:ext uri="{FF2B5EF4-FFF2-40B4-BE49-F238E27FC236}">
                <a16:creationId xmlns:a16="http://schemas.microsoft.com/office/drawing/2014/main" id="{13051712-4413-E197-FD35-D97A8C4AAE46}"/>
              </a:ext>
            </a:extLst>
          </p:cNvPr>
          <p:cNvSpPr txBox="1">
            <a:spLocks/>
          </p:cNvSpPr>
          <p:nvPr/>
        </p:nvSpPr>
        <p:spPr>
          <a:xfrm>
            <a:off x="511629" y="6371770"/>
            <a:ext cx="10515600" cy="4862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i="1" dirty="0"/>
              <a:t>*  ‘Slash commands’ = automated prompt macros;    ‘Hooks’ = tool usage pre- or post-intercepts</a:t>
            </a:r>
          </a:p>
        </p:txBody>
      </p:sp>
    </p:spTree>
    <p:extLst>
      <p:ext uri="{BB962C8B-B14F-4D97-AF65-F5344CB8AC3E}">
        <p14:creationId xmlns:p14="http://schemas.microsoft.com/office/powerpoint/2010/main" val="2958067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9332C-F9F3-B85A-8880-2C9A25B97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7458D-F2EE-CE6E-555E-C5021CED73EC}"/>
              </a:ext>
            </a:extLst>
          </p:cNvPr>
          <p:cNvSpPr>
            <a:spLocks noGrp="1"/>
          </p:cNvSpPr>
          <p:nvPr>
            <p:ph type="title"/>
          </p:nvPr>
        </p:nvSpPr>
        <p:spPr>
          <a:xfrm>
            <a:off x="0" y="0"/>
            <a:ext cx="10515600" cy="1325563"/>
          </a:xfrm>
        </p:spPr>
        <p:txBody>
          <a:bodyPr/>
          <a:lstStyle/>
          <a:p>
            <a:r>
              <a:rPr lang="en-US" dirty="0"/>
              <a:t>     Methodology (midterm recap)</a:t>
            </a:r>
          </a:p>
        </p:txBody>
      </p:sp>
      <p:grpSp>
        <p:nvGrpSpPr>
          <p:cNvPr id="13" name="Group 12">
            <a:extLst>
              <a:ext uri="{FF2B5EF4-FFF2-40B4-BE49-F238E27FC236}">
                <a16:creationId xmlns:a16="http://schemas.microsoft.com/office/drawing/2014/main" id="{27D0FFB8-A9C7-CD58-601E-DD2698E896F8}"/>
              </a:ext>
            </a:extLst>
          </p:cNvPr>
          <p:cNvGrpSpPr/>
          <p:nvPr/>
        </p:nvGrpSpPr>
        <p:grpSpPr>
          <a:xfrm>
            <a:off x="2380342" y="1249363"/>
            <a:ext cx="7231744" cy="1008371"/>
            <a:chOff x="3218542" y="1522725"/>
            <a:chExt cx="7231744" cy="1008371"/>
          </a:xfrm>
        </p:grpSpPr>
        <p:pic>
          <p:nvPicPr>
            <p:cNvPr id="8" name="Picture 7">
              <a:extLst>
                <a:ext uri="{FF2B5EF4-FFF2-40B4-BE49-F238E27FC236}">
                  <a16:creationId xmlns:a16="http://schemas.microsoft.com/office/drawing/2014/main" id="{62B21C67-5781-B756-1BFD-E5C0A00930EF}"/>
                </a:ext>
              </a:extLst>
            </p:cNvPr>
            <p:cNvPicPr>
              <a:picLocks noChangeAspect="1"/>
            </p:cNvPicPr>
            <p:nvPr/>
          </p:nvPicPr>
          <p:blipFill>
            <a:blip r:embed="rId3"/>
            <a:stretch>
              <a:fillRect/>
            </a:stretch>
          </p:blipFill>
          <p:spPr>
            <a:xfrm>
              <a:off x="8480444" y="1522725"/>
              <a:ext cx="1969842" cy="1008371"/>
            </a:xfrm>
            <a:prstGeom prst="rect">
              <a:avLst/>
            </a:prstGeom>
            <a:effectLst>
              <a:glow rad="63500">
                <a:schemeClr val="accent1">
                  <a:satMod val="175000"/>
                  <a:alpha val="40000"/>
                </a:schemeClr>
              </a:glow>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5D81D6DA-D764-1A76-0790-F3345FD5EA53}"/>
                </a:ext>
              </a:extLst>
            </p:cNvPr>
            <p:cNvPicPr>
              <a:picLocks noChangeAspect="1"/>
            </p:cNvPicPr>
            <p:nvPr/>
          </p:nvPicPr>
          <p:blipFill>
            <a:blip r:embed="rId4"/>
            <a:stretch>
              <a:fillRect/>
            </a:stretch>
          </p:blipFill>
          <p:spPr>
            <a:xfrm>
              <a:off x="3218542" y="1525914"/>
              <a:ext cx="2163247" cy="1001995"/>
            </a:xfrm>
            <a:prstGeom prst="rect">
              <a:avLst/>
            </a:prstGeom>
          </p:spPr>
        </p:pic>
        <p:pic>
          <p:nvPicPr>
            <p:cNvPr id="12" name="Picture 11">
              <a:extLst>
                <a:ext uri="{FF2B5EF4-FFF2-40B4-BE49-F238E27FC236}">
                  <a16:creationId xmlns:a16="http://schemas.microsoft.com/office/drawing/2014/main" id="{867FC186-7513-5580-1D8E-08C43AB3F226}"/>
                </a:ext>
              </a:extLst>
            </p:cNvPr>
            <p:cNvPicPr>
              <a:picLocks noChangeAspect="1"/>
            </p:cNvPicPr>
            <p:nvPr/>
          </p:nvPicPr>
          <p:blipFill>
            <a:blip r:embed="rId5"/>
            <a:stretch>
              <a:fillRect/>
            </a:stretch>
          </p:blipFill>
          <p:spPr>
            <a:xfrm>
              <a:off x="5849493" y="1694727"/>
              <a:ext cx="2163247" cy="664368"/>
            </a:xfrm>
            <a:prstGeom prst="rect">
              <a:avLst/>
            </a:prstGeom>
          </p:spPr>
        </p:pic>
      </p:grpSp>
      <p:cxnSp>
        <p:nvCxnSpPr>
          <p:cNvPr id="15" name="Straight Arrow Connector 14">
            <a:extLst>
              <a:ext uri="{FF2B5EF4-FFF2-40B4-BE49-F238E27FC236}">
                <a16:creationId xmlns:a16="http://schemas.microsoft.com/office/drawing/2014/main" id="{9CE88439-D7DC-7A3C-5492-AF7CEF920D3C}"/>
              </a:ext>
            </a:extLst>
          </p:cNvPr>
          <p:cNvCxnSpPr>
            <a:cxnSpLocks/>
            <a:stCxn id="10" idx="2"/>
            <a:endCxn id="27" idx="1"/>
          </p:cNvCxnSpPr>
          <p:nvPr/>
        </p:nvCxnSpPr>
        <p:spPr>
          <a:xfrm>
            <a:off x="3461966" y="2254547"/>
            <a:ext cx="1444552" cy="641555"/>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12979EF-DE56-BC0C-E71A-2CE4EFDADB07}"/>
              </a:ext>
            </a:extLst>
          </p:cNvPr>
          <p:cNvCxnSpPr>
            <a:cxnSpLocks/>
            <a:stCxn id="8" idx="2"/>
            <a:endCxn id="27" idx="3"/>
          </p:cNvCxnSpPr>
          <p:nvPr/>
        </p:nvCxnSpPr>
        <p:spPr>
          <a:xfrm flipH="1">
            <a:off x="6992491" y="2257734"/>
            <a:ext cx="1634674" cy="63836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AC2EEB6-6756-F844-EF07-AB1FC3641A6E}"/>
              </a:ext>
            </a:extLst>
          </p:cNvPr>
          <p:cNvCxnSpPr>
            <a:cxnSpLocks/>
            <a:stCxn id="12" idx="2"/>
            <a:endCxn id="27" idx="0"/>
          </p:cNvCxnSpPr>
          <p:nvPr/>
        </p:nvCxnSpPr>
        <p:spPr>
          <a:xfrm>
            <a:off x="6092917" y="2085733"/>
            <a:ext cx="95" cy="23278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7" name="Flowchart: Multidocument 26">
            <a:extLst>
              <a:ext uri="{FF2B5EF4-FFF2-40B4-BE49-F238E27FC236}">
                <a16:creationId xmlns:a16="http://schemas.microsoft.com/office/drawing/2014/main" id="{C2ABC0B4-61AE-6C10-AF8E-E7052558B863}"/>
              </a:ext>
            </a:extLst>
          </p:cNvPr>
          <p:cNvSpPr/>
          <p:nvPr/>
        </p:nvSpPr>
        <p:spPr>
          <a:xfrm>
            <a:off x="4906518" y="2318521"/>
            <a:ext cx="2085973" cy="1155161"/>
          </a:xfrm>
          <a:prstGeom prst="flowChartMultidocumen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Repos w/ reduced test cases (~50% coverage)</a:t>
            </a:r>
          </a:p>
        </p:txBody>
      </p:sp>
      <p:cxnSp>
        <p:nvCxnSpPr>
          <p:cNvPr id="48" name="Straight Arrow Connector 47">
            <a:extLst>
              <a:ext uri="{FF2B5EF4-FFF2-40B4-BE49-F238E27FC236}">
                <a16:creationId xmlns:a16="http://schemas.microsoft.com/office/drawing/2014/main" id="{8E1281F5-61FB-B7E2-4358-1439A88718EC}"/>
              </a:ext>
            </a:extLst>
          </p:cNvPr>
          <p:cNvCxnSpPr>
            <a:cxnSpLocks/>
            <a:stCxn id="27" idx="2"/>
          </p:cNvCxnSpPr>
          <p:nvPr/>
        </p:nvCxnSpPr>
        <p:spPr>
          <a:xfrm>
            <a:off x="5804452" y="3429936"/>
            <a:ext cx="0" cy="397835"/>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grpSp>
        <p:nvGrpSpPr>
          <p:cNvPr id="7" name="Group 6">
            <a:extLst>
              <a:ext uri="{FF2B5EF4-FFF2-40B4-BE49-F238E27FC236}">
                <a16:creationId xmlns:a16="http://schemas.microsoft.com/office/drawing/2014/main" id="{461B3C51-1640-A6D3-F6D4-FAF96CEBCCEC}"/>
              </a:ext>
            </a:extLst>
          </p:cNvPr>
          <p:cNvGrpSpPr/>
          <p:nvPr/>
        </p:nvGrpSpPr>
        <p:grpSpPr>
          <a:xfrm>
            <a:off x="2971236" y="5627751"/>
            <a:ext cx="1324696" cy="1016515"/>
            <a:chOff x="5956712" y="3960620"/>
            <a:chExt cx="1324696" cy="1016515"/>
          </a:xfrm>
        </p:grpSpPr>
        <p:pic>
          <p:nvPicPr>
            <p:cNvPr id="4" name="Picture 4">
              <a:extLst>
                <a:ext uri="{FF2B5EF4-FFF2-40B4-BE49-F238E27FC236}">
                  <a16:creationId xmlns:a16="http://schemas.microsoft.com/office/drawing/2014/main" id="{9E7528D7-BE49-E5F1-3F54-23C0638837ED}"/>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artisticCement/>
                      </a14:imgEffect>
                      <a14:imgEffect>
                        <a14:colorTemperature colorTemp="4417"/>
                      </a14:imgEffect>
                    </a14:imgLayer>
                  </a14:imgProps>
                </a:ext>
                <a:ext uri="{28A0092B-C50C-407E-A947-70E740481C1C}">
                  <a14:useLocalDpi xmlns:a14="http://schemas.microsoft.com/office/drawing/2010/main" val="0"/>
                </a:ext>
              </a:extLst>
            </a:blip>
            <a:srcRect/>
            <a:stretch>
              <a:fillRect/>
            </a:stretch>
          </p:blipFill>
          <p:spPr bwMode="auto">
            <a:xfrm>
              <a:off x="6135243" y="3960620"/>
              <a:ext cx="933450" cy="9334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FF8F27C-DED2-E097-1351-B3E00E91DC5C}"/>
                </a:ext>
              </a:extLst>
            </p:cNvPr>
            <p:cNvSpPr txBox="1"/>
            <p:nvPr/>
          </p:nvSpPr>
          <p:spPr>
            <a:xfrm>
              <a:off x="5956712" y="4607803"/>
              <a:ext cx="1324696" cy="369332"/>
            </a:xfrm>
            <a:prstGeom prst="rect">
              <a:avLst/>
            </a:prstGeom>
            <a:noFill/>
          </p:spPr>
          <p:txBody>
            <a:bodyPr wrap="square" rtlCol="0">
              <a:spAutoFit/>
            </a:bodyPr>
            <a:lstStyle/>
            <a:p>
              <a:pPr algn="ctr"/>
              <a:r>
                <a:rPr lang="en-US" b="1" dirty="0"/>
                <a:t>Sonnet 4.5</a:t>
              </a:r>
            </a:p>
          </p:txBody>
        </p:sp>
      </p:grpSp>
      <p:grpSp>
        <p:nvGrpSpPr>
          <p:cNvPr id="9" name="Group 8">
            <a:extLst>
              <a:ext uri="{FF2B5EF4-FFF2-40B4-BE49-F238E27FC236}">
                <a16:creationId xmlns:a16="http://schemas.microsoft.com/office/drawing/2014/main" id="{E02885CC-366F-4DED-CF49-114D01EEAA34}"/>
              </a:ext>
            </a:extLst>
          </p:cNvPr>
          <p:cNvGrpSpPr/>
          <p:nvPr/>
        </p:nvGrpSpPr>
        <p:grpSpPr>
          <a:xfrm>
            <a:off x="3003124" y="4544936"/>
            <a:ext cx="1260920" cy="1041978"/>
            <a:chOff x="5980054" y="2965926"/>
            <a:chExt cx="1260920" cy="1041978"/>
          </a:xfrm>
        </p:grpSpPr>
        <p:pic>
          <p:nvPicPr>
            <p:cNvPr id="3076" name="Picture 4">
              <a:extLst>
                <a:ext uri="{FF2B5EF4-FFF2-40B4-BE49-F238E27FC236}">
                  <a16:creationId xmlns:a16="http://schemas.microsoft.com/office/drawing/2014/main" id="{EAC976FA-96C1-EDBB-1673-C6A7450C1B9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35243" y="2965926"/>
              <a:ext cx="933450" cy="9334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5CB31DE-C942-C8D6-AE6B-BE9E2282D7A3}"/>
                </a:ext>
              </a:extLst>
            </p:cNvPr>
            <p:cNvSpPr txBox="1"/>
            <p:nvPr/>
          </p:nvSpPr>
          <p:spPr>
            <a:xfrm>
              <a:off x="5980054" y="3638572"/>
              <a:ext cx="1260920" cy="369332"/>
            </a:xfrm>
            <a:prstGeom prst="rect">
              <a:avLst/>
            </a:prstGeom>
            <a:noFill/>
          </p:spPr>
          <p:txBody>
            <a:bodyPr wrap="square" rtlCol="0">
              <a:spAutoFit/>
            </a:bodyPr>
            <a:lstStyle/>
            <a:p>
              <a:pPr algn="ctr"/>
              <a:r>
                <a:rPr lang="en-US" b="1" dirty="0"/>
                <a:t>Opus 4.1</a:t>
              </a:r>
            </a:p>
          </p:txBody>
        </p:sp>
      </p:grpSp>
      <p:sp>
        <p:nvSpPr>
          <p:cNvPr id="11" name="Flowchart: Process 10">
            <a:extLst>
              <a:ext uri="{FF2B5EF4-FFF2-40B4-BE49-F238E27FC236}">
                <a16:creationId xmlns:a16="http://schemas.microsoft.com/office/drawing/2014/main" id="{74D31DEE-A34B-8D18-6E00-7441DE418890}"/>
              </a:ext>
            </a:extLst>
          </p:cNvPr>
          <p:cNvSpPr/>
          <p:nvPr/>
        </p:nvSpPr>
        <p:spPr>
          <a:xfrm>
            <a:off x="4243075" y="3904473"/>
            <a:ext cx="1476374" cy="55245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a:t>
            </a:r>
          </a:p>
        </p:txBody>
      </p:sp>
      <p:sp>
        <p:nvSpPr>
          <p:cNvPr id="14" name="Flowchart: Alternate Process 13">
            <a:extLst>
              <a:ext uri="{FF2B5EF4-FFF2-40B4-BE49-F238E27FC236}">
                <a16:creationId xmlns:a16="http://schemas.microsoft.com/office/drawing/2014/main" id="{9DF41003-E690-46E4-5913-9C503CAE6CF2}"/>
              </a:ext>
            </a:extLst>
          </p:cNvPr>
          <p:cNvSpPr/>
          <p:nvPr/>
        </p:nvSpPr>
        <p:spPr>
          <a:xfrm>
            <a:off x="5804452" y="3904473"/>
            <a:ext cx="1476375" cy="55245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/refine-tests</a:t>
            </a:r>
          </a:p>
        </p:txBody>
      </p:sp>
      <p:graphicFrame>
        <p:nvGraphicFramePr>
          <p:cNvPr id="18" name="Table 17">
            <a:extLst>
              <a:ext uri="{FF2B5EF4-FFF2-40B4-BE49-F238E27FC236}">
                <a16:creationId xmlns:a16="http://schemas.microsoft.com/office/drawing/2014/main" id="{42A74220-3B3A-C892-3FD5-8F6CDBF19F38}"/>
              </a:ext>
            </a:extLst>
          </p:cNvPr>
          <p:cNvGraphicFramePr>
            <a:graphicFrameLocks noGrp="1"/>
          </p:cNvGraphicFramePr>
          <p:nvPr/>
        </p:nvGraphicFramePr>
        <p:xfrm>
          <a:off x="4243074" y="4544936"/>
          <a:ext cx="3037750" cy="2016264"/>
        </p:xfrm>
        <a:graphic>
          <a:graphicData uri="http://schemas.openxmlformats.org/drawingml/2006/table">
            <a:tbl>
              <a:tblPr bandRow="1">
                <a:tableStyleId>{5C22544A-7EE6-4342-B048-85BDC9FD1C3A}</a:tableStyleId>
              </a:tblPr>
              <a:tblGrid>
                <a:gridCol w="1518875">
                  <a:extLst>
                    <a:ext uri="{9D8B030D-6E8A-4147-A177-3AD203B41FA5}">
                      <a16:colId xmlns:a16="http://schemas.microsoft.com/office/drawing/2014/main" val="4251502896"/>
                    </a:ext>
                  </a:extLst>
                </a:gridCol>
                <a:gridCol w="1518875">
                  <a:extLst>
                    <a:ext uri="{9D8B030D-6E8A-4147-A177-3AD203B41FA5}">
                      <a16:colId xmlns:a16="http://schemas.microsoft.com/office/drawing/2014/main" val="3569919260"/>
                    </a:ext>
                  </a:extLst>
                </a:gridCol>
              </a:tblGrid>
              <a:tr h="1008132">
                <a:tc>
                  <a:txBody>
                    <a:bodyPr/>
                    <a:lstStyle/>
                    <a:p>
                      <a:pPr algn="ctr"/>
                      <a:r>
                        <a:rPr lang="en-US" sz="1400" i="1" dirty="0"/>
                        <a:t>Base  </a:t>
                      </a:r>
                      <a:r>
                        <a:rPr lang="en-US" sz="1400" b="1" i="1" dirty="0"/>
                        <a:t>x</a:t>
                      </a:r>
                      <a:r>
                        <a:rPr lang="en-US" sz="1400" i="1" dirty="0"/>
                        <a:t>  Opus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i="1" dirty="0"/>
                        <a:t>Refine  </a:t>
                      </a:r>
                      <a:r>
                        <a:rPr lang="en-US" sz="1400" b="1" i="1" dirty="0"/>
                        <a:t>x</a:t>
                      </a:r>
                      <a:r>
                        <a:rPr lang="en-US" sz="1400" i="1" dirty="0"/>
                        <a:t>  Opus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513563"/>
                  </a:ext>
                </a:extLst>
              </a:tr>
              <a:tr h="1008132">
                <a:tc>
                  <a:txBody>
                    <a:bodyPr/>
                    <a:lstStyle/>
                    <a:p>
                      <a:pPr algn="ctr"/>
                      <a:r>
                        <a:rPr lang="en-US" sz="1400" i="1" dirty="0"/>
                        <a:t>Base  </a:t>
                      </a:r>
                      <a:r>
                        <a:rPr lang="en-US" sz="1400" b="1" i="1" dirty="0"/>
                        <a:t>x</a:t>
                      </a:r>
                      <a:r>
                        <a:rPr lang="en-US" sz="1400" i="1" dirty="0"/>
                        <a:t>  Sonnet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i="1" dirty="0"/>
                        <a:t>Refine  </a:t>
                      </a:r>
                      <a:r>
                        <a:rPr lang="en-US" sz="1400" b="1" i="1" dirty="0"/>
                        <a:t>x</a:t>
                      </a:r>
                      <a:r>
                        <a:rPr lang="en-US" sz="1400" i="1" dirty="0"/>
                        <a:t>  Sonnet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491031"/>
                  </a:ext>
                </a:extLst>
              </a:tr>
            </a:tbl>
          </a:graphicData>
        </a:graphic>
      </p:graphicFrame>
      <p:cxnSp>
        <p:nvCxnSpPr>
          <p:cNvPr id="20" name="Connector: Curved 19">
            <a:extLst>
              <a:ext uri="{FF2B5EF4-FFF2-40B4-BE49-F238E27FC236}">
                <a16:creationId xmlns:a16="http://schemas.microsoft.com/office/drawing/2014/main" id="{A7BD4725-5957-6FB6-DD58-5C986A8A77CA}"/>
              </a:ext>
            </a:extLst>
          </p:cNvPr>
          <p:cNvCxnSpPr>
            <a:cxnSpLocks/>
          </p:cNvCxnSpPr>
          <p:nvPr/>
        </p:nvCxnSpPr>
        <p:spPr>
          <a:xfrm flipV="1">
            <a:off x="5752833" y="4248883"/>
            <a:ext cx="3319773" cy="1304185"/>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0B8652D0-0963-D91A-7022-75978AF3AFC2}"/>
              </a:ext>
            </a:extLst>
          </p:cNvPr>
          <p:cNvSpPr txBox="1"/>
          <p:nvPr/>
        </p:nvSpPr>
        <p:spPr>
          <a:xfrm>
            <a:off x="9072609" y="3956577"/>
            <a:ext cx="2747187" cy="1846659"/>
          </a:xfrm>
          <a:prstGeom prst="rect">
            <a:avLst/>
          </a:prstGeom>
          <a:noFill/>
        </p:spPr>
        <p:txBody>
          <a:bodyPr wrap="square" rtlCol="0">
            <a:spAutoFit/>
          </a:bodyPr>
          <a:lstStyle/>
          <a:p>
            <a:r>
              <a:rPr lang="en-US" sz="2400" b="1" dirty="0"/>
              <a:t>Measuring:</a:t>
            </a:r>
          </a:p>
          <a:p>
            <a:pPr marL="285750" indent="-285750">
              <a:buFont typeface="Arial" panose="020B0604020202020204" pitchFamily="34" charset="0"/>
              <a:buChar char="•"/>
            </a:pPr>
            <a:r>
              <a:rPr lang="en-US" i="1" dirty="0"/>
              <a:t>Coverage</a:t>
            </a:r>
          </a:p>
          <a:p>
            <a:pPr marL="285750" indent="-285750">
              <a:buFont typeface="Arial" panose="020B0604020202020204" pitchFamily="34" charset="0"/>
              <a:buChar char="•"/>
            </a:pPr>
            <a:r>
              <a:rPr lang="en-US" i="1" dirty="0"/>
              <a:t>Pass Rate</a:t>
            </a:r>
          </a:p>
          <a:p>
            <a:pPr marL="285750" indent="-285750">
              <a:buFont typeface="Arial" panose="020B0604020202020204" pitchFamily="34" charset="0"/>
              <a:buChar char="•"/>
            </a:pPr>
            <a:r>
              <a:rPr lang="en-US" i="1" dirty="0"/>
              <a:t>Number of tests</a:t>
            </a:r>
          </a:p>
          <a:p>
            <a:pPr marL="285750" indent="-285750">
              <a:buFont typeface="Arial" panose="020B0604020202020204" pitchFamily="34" charset="0"/>
              <a:buChar char="•"/>
            </a:pPr>
            <a:r>
              <a:rPr lang="en-US" i="1" dirty="0"/>
              <a:t>Tests/</a:t>
            </a:r>
            <a:r>
              <a:rPr lang="en-US" i="1" dirty="0" err="1"/>
              <a:t>Mtokens</a:t>
            </a:r>
            <a:endParaRPr lang="en-US" i="1" dirty="0"/>
          </a:p>
          <a:p>
            <a:pPr marL="285750" indent="-285750">
              <a:buFont typeface="Arial" panose="020B0604020202020204" pitchFamily="34" charset="0"/>
              <a:buChar char="•"/>
            </a:pPr>
            <a:endParaRPr lang="en-US" dirty="0"/>
          </a:p>
        </p:txBody>
      </p:sp>
      <p:sp>
        <p:nvSpPr>
          <p:cNvPr id="33" name="TextBox 32">
            <a:extLst>
              <a:ext uri="{FF2B5EF4-FFF2-40B4-BE49-F238E27FC236}">
                <a16:creationId xmlns:a16="http://schemas.microsoft.com/office/drawing/2014/main" id="{2689D32A-B5BD-34C7-2E0F-44A0E67FEA0F}"/>
              </a:ext>
            </a:extLst>
          </p:cNvPr>
          <p:cNvSpPr txBox="1"/>
          <p:nvPr/>
        </p:nvSpPr>
        <p:spPr>
          <a:xfrm>
            <a:off x="7069765" y="2972804"/>
            <a:ext cx="4084010" cy="369332"/>
          </a:xfrm>
          <a:prstGeom prst="rect">
            <a:avLst/>
          </a:prstGeom>
          <a:noFill/>
        </p:spPr>
        <p:txBody>
          <a:bodyPr wrap="square">
            <a:spAutoFit/>
          </a:bodyPr>
          <a:lstStyle/>
          <a:p>
            <a:pPr algn="l" rtl="0" fontAlgn="base"/>
            <a:r>
              <a:rPr lang="en-US" sz="1800" b="0" i="0" dirty="0">
                <a:solidFill>
                  <a:srgbClr val="242424"/>
                </a:solidFill>
                <a:effectLst/>
                <a:latin typeface="Aptos" panose="020B0004020202020204" pitchFamily="34" charset="0"/>
              </a:rPr>
              <a:t>Removed tests until ~50% coverage</a:t>
            </a:r>
          </a:p>
        </p:txBody>
      </p:sp>
      <p:sp>
        <p:nvSpPr>
          <p:cNvPr id="34" name="TextBox 33">
            <a:extLst>
              <a:ext uri="{FF2B5EF4-FFF2-40B4-BE49-F238E27FC236}">
                <a16:creationId xmlns:a16="http://schemas.microsoft.com/office/drawing/2014/main" id="{ECD8B4C9-738B-8940-1E49-1FB14EC08FCF}"/>
              </a:ext>
            </a:extLst>
          </p:cNvPr>
          <p:cNvSpPr txBox="1"/>
          <p:nvPr/>
        </p:nvSpPr>
        <p:spPr>
          <a:xfrm>
            <a:off x="2853799" y="4064217"/>
            <a:ext cx="1765990" cy="369332"/>
          </a:xfrm>
          <a:prstGeom prst="rect">
            <a:avLst/>
          </a:prstGeom>
          <a:noFill/>
        </p:spPr>
        <p:txBody>
          <a:bodyPr wrap="square">
            <a:spAutoFit/>
          </a:bodyPr>
          <a:lstStyle/>
          <a:p>
            <a:pPr algn="l" rtl="0" fontAlgn="base"/>
            <a:r>
              <a:rPr lang="en-US" sz="1800" b="0" i="0" dirty="0">
                <a:solidFill>
                  <a:srgbClr val="242424"/>
                </a:solidFill>
                <a:effectLst/>
                <a:latin typeface="Aptos" panose="020B0004020202020204" pitchFamily="34" charset="0"/>
              </a:rPr>
              <a:t>(4 AI agents)</a:t>
            </a:r>
          </a:p>
        </p:txBody>
      </p:sp>
      <p:sp>
        <p:nvSpPr>
          <p:cNvPr id="36" name="TextBox 35">
            <a:extLst>
              <a:ext uri="{FF2B5EF4-FFF2-40B4-BE49-F238E27FC236}">
                <a16:creationId xmlns:a16="http://schemas.microsoft.com/office/drawing/2014/main" id="{C15A292E-21D3-34A0-58B8-0A7664097C68}"/>
              </a:ext>
            </a:extLst>
          </p:cNvPr>
          <p:cNvSpPr txBox="1"/>
          <p:nvPr/>
        </p:nvSpPr>
        <p:spPr>
          <a:xfrm>
            <a:off x="1590871" y="5376926"/>
            <a:ext cx="1578941" cy="369332"/>
          </a:xfrm>
          <a:prstGeom prst="rect">
            <a:avLst/>
          </a:prstGeom>
          <a:noFill/>
        </p:spPr>
        <p:txBody>
          <a:bodyPr wrap="square">
            <a:spAutoFit/>
          </a:bodyPr>
          <a:lstStyle/>
          <a:p>
            <a:r>
              <a:rPr lang="en-US" sz="1800" b="0" i="0" dirty="0">
                <a:solidFill>
                  <a:srgbClr val="242424"/>
                </a:solidFill>
                <a:effectLst/>
                <a:latin typeface="Aptos" panose="020B0004020202020204" pitchFamily="34" charset="0"/>
              </a:rPr>
              <a:t>Two models:</a:t>
            </a:r>
            <a:endParaRPr lang="en-US" dirty="0"/>
          </a:p>
        </p:txBody>
      </p:sp>
      <p:sp>
        <p:nvSpPr>
          <p:cNvPr id="37" name="TextBox 36">
            <a:extLst>
              <a:ext uri="{FF2B5EF4-FFF2-40B4-BE49-F238E27FC236}">
                <a16:creationId xmlns:a16="http://schemas.microsoft.com/office/drawing/2014/main" id="{089A757E-D827-E6B4-7137-8693B288F13D}"/>
              </a:ext>
            </a:extLst>
          </p:cNvPr>
          <p:cNvSpPr txBox="1"/>
          <p:nvPr/>
        </p:nvSpPr>
        <p:spPr>
          <a:xfrm>
            <a:off x="3995959" y="3477282"/>
            <a:ext cx="1765990" cy="369332"/>
          </a:xfrm>
          <a:prstGeom prst="rect">
            <a:avLst/>
          </a:prstGeom>
          <a:noFill/>
        </p:spPr>
        <p:txBody>
          <a:bodyPr wrap="square">
            <a:spAutoFit/>
          </a:bodyPr>
          <a:lstStyle/>
          <a:p>
            <a:r>
              <a:rPr lang="en-US" sz="1800" b="0" i="0" dirty="0">
                <a:solidFill>
                  <a:srgbClr val="242424"/>
                </a:solidFill>
                <a:effectLst/>
                <a:latin typeface="Aptos" panose="020B0004020202020204" pitchFamily="34" charset="0"/>
              </a:rPr>
              <a:t>Two strategies:</a:t>
            </a:r>
            <a:endParaRPr lang="en-US" dirty="0"/>
          </a:p>
        </p:txBody>
      </p:sp>
      <p:sp>
        <p:nvSpPr>
          <p:cNvPr id="39" name="TextBox 38">
            <a:extLst>
              <a:ext uri="{FF2B5EF4-FFF2-40B4-BE49-F238E27FC236}">
                <a16:creationId xmlns:a16="http://schemas.microsoft.com/office/drawing/2014/main" id="{19A29107-DB84-C343-66EA-F727AC46F963}"/>
              </a:ext>
            </a:extLst>
          </p:cNvPr>
          <p:cNvSpPr txBox="1"/>
          <p:nvPr/>
        </p:nvSpPr>
        <p:spPr>
          <a:xfrm>
            <a:off x="3336744" y="1042442"/>
            <a:ext cx="6096000" cy="369332"/>
          </a:xfrm>
          <a:prstGeom prst="rect">
            <a:avLst/>
          </a:prstGeom>
          <a:noFill/>
        </p:spPr>
        <p:txBody>
          <a:bodyPr wrap="square">
            <a:spAutoFit/>
          </a:bodyPr>
          <a:lstStyle/>
          <a:p>
            <a:pPr algn="l" rtl="0" fontAlgn="base"/>
            <a:r>
              <a:rPr lang="en-US" dirty="0">
                <a:solidFill>
                  <a:srgbClr val="242424"/>
                </a:solidFill>
                <a:latin typeface="Aptos" panose="020B0004020202020204" pitchFamily="34" charset="0"/>
              </a:rPr>
              <a:t>Obtained 3 P</a:t>
            </a:r>
            <a:r>
              <a:rPr lang="en-US" sz="1800" b="0" i="0" dirty="0">
                <a:solidFill>
                  <a:srgbClr val="242424"/>
                </a:solidFill>
                <a:effectLst/>
                <a:latin typeface="Aptos" panose="020B0004020202020204" pitchFamily="34" charset="0"/>
              </a:rPr>
              <a:t>ython repos with test suites:</a:t>
            </a:r>
          </a:p>
        </p:txBody>
      </p:sp>
      <p:sp>
        <p:nvSpPr>
          <p:cNvPr id="21" name="TextBox 20">
            <a:extLst>
              <a:ext uri="{FF2B5EF4-FFF2-40B4-BE49-F238E27FC236}">
                <a16:creationId xmlns:a16="http://schemas.microsoft.com/office/drawing/2014/main" id="{E683AC9D-75F9-A21E-34FF-CD3065AC4F12}"/>
              </a:ext>
            </a:extLst>
          </p:cNvPr>
          <p:cNvSpPr txBox="1"/>
          <p:nvPr/>
        </p:nvSpPr>
        <p:spPr>
          <a:xfrm>
            <a:off x="9991725" y="6334780"/>
            <a:ext cx="2200275" cy="523220"/>
          </a:xfrm>
          <a:prstGeom prst="rect">
            <a:avLst/>
          </a:prstGeom>
          <a:noFill/>
        </p:spPr>
        <p:txBody>
          <a:bodyPr wrap="square" rtlCol="0">
            <a:spAutoFit/>
          </a:bodyPr>
          <a:lstStyle/>
          <a:p>
            <a:r>
              <a:rPr lang="en-US" sz="2800" b="1" dirty="0">
                <a:hlinkClick r:id="rId9"/>
              </a:rPr>
              <a:t>DEMO (6:22)</a:t>
            </a:r>
            <a:endParaRPr lang="en-US" sz="2800" b="1" dirty="0"/>
          </a:p>
        </p:txBody>
      </p:sp>
    </p:spTree>
    <p:extLst>
      <p:ext uri="{BB962C8B-B14F-4D97-AF65-F5344CB8AC3E}">
        <p14:creationId xmlns:p14="http://schemas.microsoft.com/office/powerpoint/2010/main" val="146887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C2659-C1B2-A10A-E8F8-CD97B83A6F43}"/>
              </a:ext>
            </a:extLst>
          </p:cNvPr>
          <p:cNvSpPr>
            <a:spLocks noGrp="1"/>
          </p:cNvSpPr>
          <p:nvPr>
            <p:ph type="title"/>
          </p:nvPr>
        </p:nvSpPr>
        <p:spPr>
          <a:xfrm>
            <a:off x="-190500" y="0"/>
            <a:ext cx="3086100" cy="1325563"/>
          </a:xfrm>
        </p:spPr>
        <p:txBody>
          <a:bodyPr>
            <a:normAutofit fontScale="90000"/>
          </a:bodyPr>
          <a:lstStyle/>
          <a:p>
            <a:r>
              <a:rPr lang="en-US" dirty="0"/>
              <a:t>    Preliminary   </a:t>
            </a:r>
            <a:br>
              <a:rPr lang="en-US" dirty="0"/>
            </a:br>
            <a:r>
              <a:rPr lang="en-US" dirty="0"/>
              <a:t>      Results</a:t>
            </a:r>
          </a:p>
        </p:txBody>
      </p:sp>
      <p:sp>
        <p:nvSpPr>
          <p:cNvPr id="13" name="Content Placeholder 12">
            <a:extLst>
              <a:ext uri="{FF2B5EF4-FFF2-40B4-BE49-F238E27FC236}">
                <a16:creationId xmlns:a16="http://schemas.microsoft.com/office/drawing/2014/main" id="{67E4ECE7-79C1-05D7-0D4F-14D6F3A3E0B7}"/>
              </a:ext>
            </a:extLst>
          </p:cNvPr>
          <p:cNvSpPr>
            <a:spLocks noGrp="1"/>
          </p:cNvSpPr>
          <p:nvPr>
            <p:ph idx="1"/>
          </p:nvPr>
        </p:nvSpPr>
        <p:spPr>
          <a:xfrm>
            <a:off x="38371" y="3024161"/>
            <a:ext cx="2413000" cy="4351338"/>
          </a:xfrm>
        </p:spPr>
        <p:txBody>
          <a:bodyPr/>
          <a:lstStyle/>
          <a:p>
            <a:r>
              <a:rPr lang="en-US" dirty="0"/>
              <a:t>Negative result!</a:t>
            </a:r>
          </a:p>
          <a:p>
            <a:r>
              <a:rPr lang="en-US" dirty="0"/>
              <a:t>Base model does better!</a:t>
            </a:r>
          </a:p>
          <a:p>
            <a:r>
              <a:rPr lang="en-US" dirty="0"/>
              <a:t>Refinement command not effective as written.</a:t>
            </a:r>
          </a:p>
        </p:txBody>
      </p:sp>
      <p:pic>
        <p:nvPicPr>
          <p:cNvPr id="17" name="Picture 16">
            <a:extLst>
              <a:ext uri="{FF2B5EF4-FFF2-40B4-BE49-F238E27FC236}">
                <a16:creationId xmlns:a16="http://schemas.microsoft.com/office/drawing/2014/main" id="{3F132B47-F15D-0287-FF78-7374B0518831}"/>
              </a:ext>
            </a:extLst>
          </p:cNvPr>
          <p:cNvPicPr>
            <a:picLocks noChangeAspect="1"/>
          </p:cNvPicPr>
          <p:nvPr/>
        </p:nvPicPr>
        <p:blipFill>
          <a:blip r:embed="rId3"/>
          <a:srcRect t="7778"/>
          <a:stretch>
            <a:fillRect/>
          </a:stretch>
        </p:blipFill>
        <p:spPr>
          <a:xfrm>
            <a:off x="2628900" y="0"/>
            <a:ext cx="9563100" cy="6858000"/>
          </a:xfrm>
          <a:prstGeom prst="rect">
            <a:avLst/>
          </a:prstGeom>
        </p:spPr>
      </p:pic>
      <p:pic>
        <p:nvPicPr>
          <p:cNvPr id="15" name="Picture 14">
            <a:extLst>
              <a:ext uri="{FF2B5EF4-FFF2-40B4-BE49-F238E27FC236}">
                <a16:creationId xmlns:a16="http://schemas.microsoft.com/office/drawing/2014/main" id="{BCADE6B1-D4E1-0035-857B-6BD82AA19C88}"/>
              </a:ext>
            </a:extLst>
          </p:cNvPr>
          <p:cNvPicPr>
            <a:picLocks noChangeAspect="1"/>
          </p:cNvPicPr>
          <p:nvPr/>
        </p:nvPicPr>
        <p:blipFill>
          <a:blip r:embed="rId4"/>
          <a:stretch>
            <a:fillRect/>
          </a:stretch>
        </p:blipFill>
        <p:spPr>
          <a:xfrm rot="5400000">
            <a:off x="10714533" y="4882482"/>
            <a:ext cx="1309436" cy="1574800"/>
          </a:xfrm>
          <a:prstGeom prst="rect">
            <a:avLst/>
          </a:prstGeom>
        </p:spPr>
      </p:pic>
      <p:sp>
        <p:nvSpPr>
          <p:cNvPr id="18" name="TextBox 17">
            <a:extLst>
              <a:ext uri="{FF2B5EF4-FFF2-40B4-BE49-F238E27FC236}">
                <a16:creationId xmlns:a16="http://schemas.microsoft.com/office/drawing/2014/main" id="{D6540CD5-2DBC-2C45-62AB-8A0F6293C37D}"/>
              </a:ext>
            </a:extLst>
          </p:cNvPr>
          <p:cNvSpPr txBox="1"/>
          <p:nvPr/>
        </p:nvSpPr>
        <p:spPr>
          <a:xfrm>
            <a:off x="10521102" y="5015164"/>
            <a:ext cx="1696298" cy="369332"/>
          </a:xfrm>
          <a:prstGeom prst="rect">
            <a:avLst/>
          </a:prstGeom>
          <a:noFill/>
        </p:spPr>
        <p:txBody>
          <a:bodyPr wrap="none" rtlCol="0">
            <a:spAutoFit/>
          </a:bodyPr>
          <a:lstStyle/>
          <a:p>
            <a:r>
              <a:rPr lang="en-US" dirty="0"/>
              <a:t>Sonnet - Refine</a:t>
            </a:r>
          </a:p>
        </p:txBody>
      </p:sp>
      <p:sp>
        <p:nvSpPr>
          <p:cNvPr id="19" name="TextBox 18">
            <a:extLst>
              <a:ext uri="{FF2B5EF4-FFF2-40B4-BE49-F238E27FC236}">
                <a16:creationId xmlns:a16="http://schemas.microsoft.com/office/drawing/2014/main" id="{66276253-D521-5E84-DBFE-A7A81DA416C7}"/>
              </a:ext>
            </a:extLst>
          </p:cNvPr>
          <p:cNvSpPr txBox="1"/>
          <p:nvPr/>
        </p:nvSpPr>
        <p:spPr>
          <a:xfrm>
            <a:off x="10521102" y="5325950"/>
            <a:ext cx="1550424" cy="369332"/>
          </a:xfrm>
          <a:prstGeom prst="rect">
            <a:avLst/>
          </a:prstGeom>
          <a:noFill/>
        </p:spPr>
        <p:txBody>
          <a:bodyPr wrap="none" rtlCol="0">
            <a:spAutoFit/>
          </a:bodyPr>
          <a:lstStyle/>
          <a:p>
            <a:r>
              <a:rPr lang="en-US" dirty="0"/>
              <a:t>Sonnet - Base</a:t>
            </a:r>
          </a:p>
        </p:txBody>
      </p:sp>
      <p:sp>
        <p:nvSpPr>
          <p:cNvPr id="20" name="TextBox 19">
            <a:extLst>
              <a:ext uri="{FF2B5EF4-FFF2-40B4-BE49-F238E27FC236}">
                <a16:creationId xmlns:a16="http://schemas.microsoft.com/office/drawing/2014/main" id="{E9FE9B2A-BBE8-2A95-CE7E-EACB57BAF2EF}"/>
              </a:ext>
            </a:extLst>
          </p:cNvPr>
          <p:cNvSpPr txBox="1"/>
          <p:nvPr/>
        </p:nvSpPr>
        <p:spPr>
          <a:xfrm>
            <a:off x="10521102" y="5644482"/>
            <a:ext cx="1527982" cy="369332"/>
          </a:xfrm>
          <a:prstGeom prst="rect">
            <a:avLst/>
          </a:prstGeom>
          <a:noFill/>
        </p:spPr>
        <p:txBody>
          <a:bodyPr wrap="none" rtlCol="0">
            <a:spAutoFit/>
          </a:bodyPr>
          <a:lstStyle/>
          <a:p>
            <a:r>
              <a:rPr lang="en-US" dirty="0"/>
              <a:t>Opus - Refine</a:t>
            </a:r>
          </a:p>
        </p:txBody>
      </p:sp>
      <p:sp>
        <p:nvSpPr>
          <p:cNvPr id="21" name="TextBox 20">
            <a:extLst>
              <a:ext uri="{FF2B5EF4-FFF2-40B4-BE49-F238E27FC236}">
                <a16:creationId xmlns:a16="http://schemas.microsoft.com/office/drawing/2014/main" id="{42718FA1-37BD-26F1-911A-C2CED9FC8A9A}"/>
              </a:ext>
            </a:extLst>
          </p:cNvPr>
          <p:cNvSpPr txBox="1"/>
          <p:nvPr/>
        </p:nvSpPr>
        <p:spPr>
          <a:xfrm>
            <a:off x="10521102" y="5955268"/>
            <a:ext cx="1391728" cy="369332"/>
          </a:xfrm>
          <a:prstGeom prst="rect">
            <a:avLst/>
          </a:prstGeom>
          <a:noFill/>
        </p:spPr>
        <p:txBody>
          <a:bodyPr wrap="none" rtlCol="0">
            <a:spAutoFit/>
          </a:bodyPr>
          <a:lstStyle/>
          <a:p>
            <a:r>
              <a:rPr lang="en-US" dirty="0"/>
              <a:t>Opus - Base</a:t>
            </a:r>
          </a:p>
        </p:txBody>
      </p:sp>
      <p:pic>
        <p:nvPicPr>
          <p:cNvPr id="25" name="Picture 24" descr="A person with a thumbs down&#10;&#10;AI-generated content may be incorrect.">
            <a:extLst>
              <a:ext uri="{FF2B5EF4-FFF2-40B4-BE49-F238E27FC236}">
                <a16:creationId xmlns:a16="http://schemas.microsoft.com/office/drawing/2014/main" id="{4DC048C0-CEFC-C75B-6F7F-26183F89E3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371" y="1325563"/>
            <a:ext cx="1632357" cy="1632357"/>
          </a:xfrm>
          <a:prstGeom prst="rect">
            <a:avLst/>
          </a:prstGeom>
        </p:spPr>
      </p:pic>
    </p:spTree>
    <p:extLst>
      <p:ext uri="{BB962C8B-B14F-4D97-AF65-F5344CB8AC3E}">
        <p14:creationId xmlns:p14="http://schemas.microsoft.com/office/powerpoint/2010/main" val="3122812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737885-D22C-B506-497F-EBE3D915CEB0}"/>
              </a:ext>
            </a:extLst>
          </p:cNvPr>
          <p:cNvPicPr>
            <a:picLocks noChangeAspect="1"/>
          </p:cNvPicPr>
          <p:nvPr/>
        </p:nvPicPr>
        <p:blipFill>
          <a:blip r:embed="rId2"/>
          <a:stretch>
            <a:fillRect/>
          </a:stretch>
        </p:blipFill>
        <p:spPr>
          <a:xfrm>
            <a:off x="497195" y="1568220"/>
            <a:ext cx="11197609" cy="3721559"/>
          </a:xfrm>
          <a:prstGeom prst="rect">
            <a:avLst/>
          </a:prstGeom>
        </p:spPr>
      </p:pic>
      <p:sp>
        <p:nvSpPr>
          <p:cNvPr id="6" name="Title 1">
            <a:extLst>
              <a:ext uri="{FF2B5EF4-FFF2-40B4-BE49-F238E27FC236}">
                <a16:creationId xmlns:a16="http://schemas.microsoft.com/office/drawing/2014/main" id="{64AB8C4D-5E91-0E2C-EFFE-6ACA62034253}"/>
              </a:ext>
            </a:extLst>
          </p:cNvPr>
          <p:cNvSpPr>
            <a:spLocks noGrp="1"/>
          </p:cNvSpPr>
          <p:nvPr>
            <p:ph type="title"/>
          </p:nvPr>
        </p:nvSpPr>
        <p:spPr>
          <a:xfrm>
            <a:off x="0" y="0"/>
            <a:ext cx="10515600" cy="1325563"/>
          </a:xfrm>
        </p:spPr>
        <p:txBody>
          <a:bodyPr/>
          <a:lstStyle/>
          <a:p>
            <a:r>
              <a:rPr lang="en-US" dirty="0"/>
              <a:t>     Refined variants (new since midterm)</a:t>
            </a:r>
          </a:p>
        </p:txBody>
      </p:sp>
      <p:sp>
        <p:nvSpPr>
          <p:cNvPr id="7" name="Content Placeholder 12">
            <a:extLst>
              <a:ext uri="{FF2B5EF4-FFF2-40B4-BE49-F238E27FC236}">
                <a16:creationId xmlns:a16="http://schemas.microsoft.com/office/drawing/2014/main" id="{E3C78749-37D3-C774-CCF2-656F7374A462}"/>
              </a:ext>
            </a:extLst>
          </p:cNvPr>
          <p:cNvSpPr>
            <a:spLocks noGrp="1"/>
          </p:cNvSpPr>
          <p:nvPr>
            <p:ph idx="1"/>
          </p:nvPr>
        </p:nvSpPr>
        <p:spPr>
          <a:xfrm>
            <a:off x="385470" y="5660452"/>
            <a:ext cx="11309334" cy="810106"/>
          </a:xfrm>
        </p:spPr>
        <p:txBody>
          <a:bodyPr>
            <a:normAutofit fontScale="92500" lnSpcReduction="10000"/>
          </a:bodyPr>
          <a:lstStyle/>
          <a:p>
            <a:r>
              <a:rPr lang="en-US" dirty="0"/>
              <a:t>Also:</a:t>
            </a:r>
          </a:p>
          <a:p>
            <a:pPr lvl="1"/>
            <a:r>
              <a:rPr lang="en-US" dirty="0"/>
              <a:t>Sonnet 4.5 competitive in previous steps, cheaper:  exclude Opus</a:t>
            </a:r>
          </a:p>
        </p:txBody>
      </p:sp>
    </p:spTree>
    <p:extLst>
      <p:ext uri="{BB962C8B-B14F-4D97-AF65-F5344CB8AC3E}">
        <p14:creationId xmlns:p14="http://schemas.microsoft.com/office/powerpoint/2010/main" val="326001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7A3C-E13F-1DC6-7480-CF4BC2220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F2EEB0-CE3B-D6BF-4141-E9F5C816B078}"/>
              </a:ext>
            </a:extLst>
          </p:cNvPr>
          <p:cNvSpPr>
            <a:spLocks noGrp="1"/>
          </p:cNvSpPr>
          <p:nvPr>
            <p:ph type="title"/>
          </p:nvPr>
        </p:nvSpPr>
        <p:spPr>
          <a:xfrm>
            <a:off x="-190500" y="0"/>
            <a:ext cx="3086100" cy="1325563"/>
          </a:xfrm>
        </p:spPr>
        <p:txBody>
          <a:bodyPr>
            <a:normAutofit/>
          </a:bodyPr>
          <a:lstStyle/>
          <a:p>
            <a:r>
              <a:rPr lang="en-US" dirty="0"/>
              <a:t>    Refined   </a:t>
            </a:r>
            <a:br>
              <a:rPr lang="en-US" dirty="0"/>
            </a:br>
            <a:r>
              <a:rPr lang="en-US" dirty="0"/>
              <a:t>      Results</a:t>
            </a:r>
          </a:p>
        </p:txBody>
      </p:sp>
      <p:pic>
        <p:nvPicPr>
          <p:cNvPr id="5" name="Picture 4">
            <a:extLst>
              <a:ext uri="{FF2B5EF4-FFF2-40B4-BE49-F238E27FC236}">
                <a16:creationId xmlns:a16="http://schemas.microsoft.com/office/drawing/2014/main" id="{538EC9B9-70A9-5A30-8611-A7C47305802A}"/>
              </a:ext>
            </a:extLst>
          </p:cNvPr>
          <p:cNvPicPr>
            <a:picLocks noChangeAspect="1"/>
          </p:cNvPicPr>
          <p:nvPr/>
        </p:nvPicPr>
        <p:blipFill>
          <a:blip r:embed="rId3"/>
          <a:srcRect b="40807"/>
          <a:stretch>
            <a:fillRect/>
          </a:stretch>
        </p:blipFill>
        <p:spPr>
          <a:xfrm>
            <a:off x="3558666" y="0"/>
            <a:ext cx="8573126" cy="6858000"/>
          </a:xfrm>
          <a:prstGeom prst="rect">
            <a:avLst/>
          </a:prstGeom>
        </p:spPr>
      </p:pic>
      <p:sp>
        <p:nvSpPr>
          <p:cNvPr id="8" name="Content Placeholder 12">
            <a:extLst>
              <a:ext uri="{FF2B5EF4-FFF2-40B4-BE49-F238E27FC236}">
                <a16:creationId xmlns:a16="http://schemas.microsoft.com/office/drawing/2014/main" id="{3618EC03-4F4A-A6AC-C7D2-F1CACCBA45F6}"/>
              </a:ext>
            </a:extLst>
          </p:cNvPr>
          <p:cNvSpPr>
            <a:spLocks noGrp="1"/>
          </p:cNvSpPr>
          <p:nvPr>
            <p:ph idx="1"/>
          </p:nvPr>
        </p:nvSpPr>
        <p:spPr>
          <a:xfrm>
            <a:off x="38370" y="3241875"/>
            <a:ext cx="3219179" cy="3433789"/>
          </a:xfrm>
        </p:spPr>
        <p:txBody>
          <a:bodyPr/>
          <a:lstStyle/>
          <a:p>
            <a:r>
              <a:rPr lang="en-US" dirty="0"/>
              <a:t>Sonnet 4.5 Only</a:t>
            </a:r>
          </a:p>
          <a:p>
            <a:r>
              <a:rPr lang="en-US" dirty="0"/>
              <a:t>Negative result!</a:t>
            </a:r>
          </a:p>
          <a:p>
            <a:r>
              <a:rPr lang="en-US" dirty="0"/>
              <a:t>Base model STILL does better!</a:t>
            </a:r>
          </a:p>
          <a:p>
            <a:r>
              <a:rPr lang="en-US" dirty="0"/>
              <a:t>Effects inconsistent</a:t>
            </a:r>
          </a:p>
        </p:txBody>
      </p:sp>
      <p:pic>
        <p:nvPicPr>
          <p:cNvPr id="9" name="Picture 8">
            <a:extLst>
              <a:ext uri="{FF2B5EF4-FFF2-40B4-BE49-F238E27FC236}">
                <a16:creationId xmlns:a16="http://schemas.microsoft.com/office/drawing/2014/main" id="{588E197D-1B21-39A2-8FA3-B644471B74D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99927" y="1183314"/>
            <a:ext cx="1903004" cy="1916312"/>
          </a:xfrm>
          <a:prstGeom prst="rect">
            <a:avLst/>
          </a:prstGeom>
        </p:spPr>
      </p:pic>
    </p:spTree>
    <p:extLst>
      <p:ext uri="{BB962C8B-B14F-4D97-AF65-F5344CB8AC3E}">
        <p14:creationId xmlns:p14="http://schemas.microsoft.com/office/powerpoint/2010/main" val="972924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D529C-527D-68EB-75DF-04D4E985B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F2B1B-6C8D-578E-62FF-D6214C6FCC1D}"/>
              </a:ext>
            </a:extLst>
          </p:cNvPr>
          <p:cNvSpPr>
            <a:spLocks noGrp="1"/>
          </p:cNvSpPr>
          <p:nvPr>
            <p:ph type="title"/>
          </p:nvPr>
        </p:nvSpPr>
        <p:spPr>
          <a:xfrm>
            <a:off x="-190500" y="0"/>
            <a:ext cx="3263790" cy="1325563"/>
          </a:xfrm>
        </p:spPr>
        <p:txBody>
          <a:bodyPr>
            <a:normAutofit/>
          </a:bodyPr>
          <a:lstStyle/>
          <a:p>
            <a:r>
              <a:rPr lang="en-US" dirty="0"/>
              <a:t>    Refined   </a:t>
            </a:r>
            <a:br>
              <a:rPr lang="en-US" dirty="0"/>
            </a:br>
            <a:r>
              <a:rPr lang="en-US" dirty="0"/>
              <a:t>      Results (II)</a:t>
            </a:r>
          </a:p>
        </p:txBody>
      </p:sp>
      <p:sp>
        <p:nvSpPr>
          <p:cNvPr id="13" name="Content Placeholder 12">
            <a:extLst>
              <a:ext uri="{FF2B5EF4-FFF2-40B4-BE49-F238E27FC236}">
                <a16:creationId xmlns:a16="http://schemas.microsoft.com/office/drawing/2014/main" id="{90647E85-E453-D48F-65A1-DCCA85A3CFDC}"/>
              </a:ext>
            </a:extLst>
          </p:cNvPr>
          <p:cNvSpPr>
            <a:spLocks noGrp="1"/>
          </p:cNvSpPr>
          <p:nvPr>
            <p:ph idx="1"/>
          </p:nvPr>
        </p:nvSpPr>
        <p:spPr>
          <a:xfrm>
            <a:off x="38370" y="3241875"/>
            <a:ext cx="3219179" cy="3433789"/>
          </a:xfrm>
        </p:spPr>
        <p:txBody>
          <a:bodyPr/>
          <a:lstStyle/>
          <a:p>
            <a:r>
              <a:rPr lang="en-US" dirty="0"/>
              <a:t>Sonnet 4.5 Only</a:t>
            </a:r>
          </a:p>
          <a:p>
            <a:r>
              <a:rPr lang="en-US" dirty="0"/>
              <a:t>Negative result!</a:t>
            </a:r>
          </a:p>
          <a:p>
            <a:r>
              <a:rPr lang="en-US" dirty="0"/>
              <a:t>Base model STILL does better!</a:t>
            </a:r>
          </a:p>
          <a:p>
            <a:r>
              <a:rPr lang="en-US" dirty="0"/>
              <a:t>Effects inconsistent</a:t>
            </a:r>
          </a:p>
        </p:txBody>
      </p:sp>
      <p:pic>
        <p:nvPicPr>
          <p:cNvPr id="3" name="Picture 2">
            <a:extLst>
              <a:ext uri="{FF2B5EF4-FFF2-40B4-BE49-F238E27FC236}">
                <a16:creationId xmlns:a16="http://schemas.microsoft.com/office/drawing/2014/main" id="{62E292A5-3AA8-0400-5AC3-B4AE87B17A8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9927" y="1183314"/>
            <a:ext cx="1903004" cy="1916312"/>
          </a:xfrm>
          <a:prstGeom prst="rect">
            <a:avLst/>
          </a:prstGeom>
        </p:spPr>
      </p:pic>
      <p:pic>
        <p:nvPicPr>
          <p:cNvPr id="5" name="Picture 4">
            <a:extLst>
              <a:ext uri="{FF2B5EF4-FFF2-40B4-BE49-F238E27FC236}">
                <a16:creationId xmlns:a16="http://schemas.microsoft.com/office/drawing/2014/main" id="{E33FA84F-969C-933E-676F-F916A3F4CDC9}"/>
              </a:ext>
            </a:extLst>
          </p:cNvPr>
          <p:cNvPicPr>
            <a:picLocks noChangeAspect="1"/>
          </p:cNvPicPr>
          <p:nvPr/>
        </p:nvPicPr>
        <p:blipFill>
          <a:blip r:embed="rId4"/>
          <a:srcRect t="59193" b="20518"/>
          <a:stretch>
            <a:fillRect/>
          </a:stretch>
        </p:blipFill>
        <p:spPr>
          <a:xfrm>
            <a:off x="3073290" y="555902"/>
            <a:ext cx="8979756" cy="2462162"/>
          </a:xfrm>
          <a:prstGeom prst="rect">
            <a:avLst/>
          </a:prstGeom>
        </p:spPr>
      </p:pic>
      <p:pic>
        <p:nvPicPr>
          <p:cNvPr id="6" name="Picture 5">
            <a:extLst>
              <a:ext uri="{FF2B5EF4-FFF2-40B4-BE49-F238E27FC236}">
                <a16:creationId xmlns:a16="http://schemas.microsoft.com/office/drawing/2014/main" id="{E33FA84F-969C-933E-676F-F916A3F4CDC9}"/>
              </a:ext>
            </a:extLst>
          </p:cNvPr>
          <p:cNvPicPr>
            <a:picLocks noChangeAspect="1"/>
          </p:cNvPicPr>
          <p:nvPr/>
        </p:nvPicPr>
        <p:blipFill>
          <a:blip r:embed="rId4"/>
          <a:srcRect t="79718" r="48621" b="-792"/>
          <a:stretch>
            <a:fillRect/>
          </a:stretch>
        </p:blipFill>
        <p:spPr>
          <a:xfrm>
            <a:off x="4177875" y="3099626"/>
            <a:ext cx="6562696" cy="3637899"/>
          </a:xfrm>
          <a:prstGeom prst="rect">
            <a:avLst/>
          </a:prstGeom>
        </p:spPr>
      </p:pic>
    </p:spTree>
    <p:extLst>
      <p:ext uri="{BB962C8B-B14F-4D97-AF65-F5344CB8AC3E}">
        <p14:creationId xmlns:p14="http://schemas.microsoft.com/office/powerpoint/2010/main" val="326221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E8E13-3D33-5C9D-4FC0-00BE6A383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99F7C-414B-C4AB-D236-1E59EB0C9BC3}"/>
              </a:ext>
            </a:extLst>
          </p:cNvPr>
          <p:cNvSpPr>
            <a:spLocks noGrp="1"/>
          </p:cNvSpPr>
          <p:nvPr>
            <p:ph type="title"/>
          </p:nvPr>
        </p:nvSpPr>
        <p:spPr>
          <a:xfrm>
            <a:off x="-190500" y="0"/>
            <a:ext cx="3086100" cy="1325563"/>
          </a:xfrm>
        </p:spPr>
        <p:txBody>
          <a:bodyPr>
            <a:normAutofit fontScale="90000"/>
          </a:bodyPr>
          <a:lstStyle/>
          <a:p>
            <a:r>
              <a:rPr lang="en-US" dirty="0"/>
              <a:t>    Exploratory   </a:t>
            </a:r>
            <a:br>
              <a:rPr lang="en-US" dirty="0"/>
            </a:br>
            <a:r>
              <a:rPr lang="en-US" dirty="0"/>
              <a:t>      Results</a:t>
            </a:r>
          </a:p>
        </p:txBody>
      </p:sp>
      <p:pic>
        <p:nvPicPr>
          <p:cNvPr id="6" name="Picture 5">
            <a:extLst>
              <a:ext uri="{FF2B5EF4-FFF2-40B4-BE49-F238E27FC236}">
                <a16:creationId xmlns:a16="http://schemas.microsoft.com/office/drawing/2014/main" id="{593DBA76-0942-930C-12FE-6E2D5BC1BEF9}"/>
              </a:ext>
            </a:extLst>
          </p:cNvPr>
          <p:cNvPicPr>
            <a:picLocks noChangeAspect="1"/>
          </p:cNvPicPr>
          <p:nvPr/>
        </p:nvPicPr>
        <p:blipFill>
          <a:blip r:embed="rId3"/>
          <a:srcRect b="40471"/>
          <a:stretch>
            <a:fillRect/>
          </a:stretch>
        </p:blipFill>
        <p:spPr>
          <a:xfrm>
            <a:off x="3521319" y="0"/>
            <a:ext cx="8521380" cy="6858000"/>
          </a:xfrm>
          <a:prstGeom prst="rect">
            <a:avLst/>
          </a:prstGeom>
        </p:spPr>
      </p:pic>
      <p:sp>
        <p:nvSpPr>
          <p:cNvPr id="8" name="TextBox 7">
            <a:extLst>
              <a:ext uri="{FF2B5EF4-FFF2-40B4-BE49-F238E27FC236}">
                <a16:creationId xmlns:a16="http://schemas.microsoft.com/office/drawing/2014/main" id="{6207FB67-A2FD-DCC3-BFC4-C10DAA26A3A1}"/>
              </a:ext>
            </a:extLst>
          </p:cNvPr>
          <p:cNvSpPr txBox="1"/>
          <p:nvPr/>
        </p:nvSpPr>
        <p:spPr>
          <a:xfrm>
            <a:off x="294444" y="1079230"/>
            <a:ext cx="2895599" cy="830997"/>
          </a:xfrm>
          <a:prstGeom prst="rect">
            <a:avLst/>
          </a:prstGeom>
          <a:noFill/>
        </p:spPr>
        <p:txBody>
          <a:bodyPr wrap="square">
            <a:spAutoFit/>
          </a:bodyPr>
          <a:lstStyle/>
          <a:p>
            <a:r>
              <a:rPr lang="en-US" sz="2400" i="1" dirty="0"/>
              <a:t>(3 repos with low existing coverage)</a:t>
            </a:r>
          </a:p>
        </p:txBody>
      </p:sp>
      <p:pic>
        <p:nvPicPr>
          <p:cNvPr id="12" name="Picture 11">
            <a:extLst>
              <a:ext uri="{FF2B5EF4-FFF2-40B4-BE49-F238E27FC236}">
                <a16:creationId xmlns:a16="http://schemas.microsoft.com/office/drawing/2014/main" id="{7CE93A49-9F53-4646-71BC-8F8F1F12F829}"/>
              </a:ext>
            </a:extLst>
          </p:cNvPr>
          <p:cNvPicPr>
            <a:picLocks noChangeAspect="1"/>
          </p:cNvPicPr>
          <p:nvPr/>
        </p:nvPicPr>
        <p:blipFill>
          <a:blip r:embed="rId4"/>
          <a:stretch>
            <a:fillRect/>
          </a:stretch>
        </p:blipFill>
        <p:spPr>
          <a:xfrm>
            <a:off x="759548" y="1910227"/>
            <a:ext cx="1598137" cy="1598137"/>
          </a:xfrm>
          <a:prstGeom prst="rect">
            <a:avLst/>
          </a:prstGeom>
        </p:spPr>
      </p:pic>
      <p:sp>
        <p:nvSpPr>
          <p:cNvPr id="16" name="Content Placeholder 12">
            <a:extLst>
              <a:ext uri="{FF2B5EF4-FFF2-40B4-BE49-F238E27FC236}">
                <a16:creationId xmlns:a16="http://schemas.microsoft.com/office/drawing/2014/main" id="{52B00D0B-767A-673B-5DBE-9A4C30604A2E}"/>
              </a:ext>
            </a:extLst>
          </p:cNvPr>
          <p:cNvSpPr txBox="1">
            <a:spLocks/>
          </p:cNvSpPr>
          <p:nvPr/>
        </p:nvSpPr>
        <p:spPr>
          <a:xfrm>
            <a:off x="38370" y="4093028"/>
            <a:ext cx="3695430" cy="25254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Base model STILL competitive!</a:t>
            </a:r>
          </a:p>
          <a:p>
            <a:r>
              <a:rPr lang="en-US" dirty="0"/>
              <a:t>Directives and toolage are </a:t>
            </a:r>
            <a:r>
              <a:rPr lang="en-US" b="1" dirty="0"/>
              <a:t>not</a:t>
            </a:r>
            <a:r>
              <a:rPr lang="en-US" dirty="0"/>
              <a:t> the bottleneck</a:t>
            </a:r>
          </a:p>
        </p:txBody>
      </p:sp>
    </p:spTree>
    <p:extLst>
      <p:ext uri="{BB962C8B-B14F-4D97-AF65-F5344CB8AC3E}">
        <p14:creationId xmlns:p14="http://schemas.microsoft.com/office/powerpoint/2010/main" val="2668638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6A962-0301-862F-D19A-FDDEBEF06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9479DF-3AD4-B582-D4FA-520191135DE1}"/>
              </a:ext>
            </a:extLst>
          </p:cNvPr>
          <p:cNvSpPr>
            <a:spLocks noGrp="1"/>
          </p:cNvSpPr>
          <p:nvPr>
            <p:ph type="title"/>
          </p:nvPr>
        </p:nvSpPr>
        <p:spPr>
          <a:xfrm>
            <a:off x="-190500" y="0"/>
            <a:ext cx="3086100" cy="1325563"/>
          </a:xfrm>
        </p:spPr>
        <p:txBody>
          <a:bodyPr>
            <a:normAutofit fontScale="90000"/>
          </a:bodyPr>
          <a:lstStyle/>
          <a:p>
            <a:r>
              <a:rPr lang="en-US" dirty="0"/>
              <a:t>    Exploratory   </a:t>
            </a:r>
            <a:br>
              <a:rPr lang="en-US" dirty="0"/>
            </a:br>
            <a:r>
              <a:rPr lang="en-US" dirty="0"/>
              <a:t>      Results (II)</a:t>
            </a:r>
          </a:p>
        </p:txBody>
      </p:sp>
      <p:pic>
        <p:nvPicPr>
          <p:cNvPr id="6" name="Picture 5">
            <a:extLst>
              <a:ext uri="{FF2B5EF4-FFF2-40B4-BE49-F238E27FC236}">
                <a16:creationId xmlns:a16="http://schemas.microsoft.com/office/drawing/2014/main" id="{C608107C-79AD-38B4-2A74-27511B61C069}"/>
              </a:ext>
            </a:extLst>
          </p:cNvPr>
          <p:cNvPicPr>
            <a:picLocks noChangeAspect="1"/>
          </p:cNvPicPr>
          <p:nvPr/>
        </p:nvPicPr>
        <p:blipFill>
          <a:blip r:embed="rId3"/>
          <a:srcRect t="59923" b="20589"/>
          <a:stretch>
            <a:fillRect/>
          </a:stretch>
        </p:blipFill>
        <p:spPr>
          <a:xfrm>
            <a:off x="3047663" y="662781"/>
            <a:ext cx="9144337" cy="2409371"/>
          </a:xfrm>
          <a:prstGeom prst="rect">
            <a:avLst/>
          </a:prstGeom>
        </p:spPr>
      </p:pic>
      <p:pic>
        <p:nvPicPr>
          <p:cNvPr id="7" name="Picture 6">
            <a:extLst>
              <a:ext uri="{FF2B5EF4-FFF2-40B4-BE49-F238E27FC236}">
                <a16:creationId xmlns:a16="http://schemas.microsoft.com/office/drawing/2014/main" id="{50EC1F00-6DB2-AF3C-9003-E9F2559ED482}"/>
              </a:ext>
            </a:extLst>
          </p:cNvPr>
          <p:cNvPicPr>
            <a:picLocks noChangeAspect="1"/>
          </p:cNvPicPr>
          <p:nvPr/>
        </p:nvPicPr>
        <p:blipFill>
          <a:blip r:embed="rId3"/>
          <a:srcRect t="79469" r="49502" b="245"/>
          <a:stretch>
            <a:fillRect/>
          </a:stretch>
        </p:blipFill>
        <p:spPr>
          <a:xfrm>
            <a:off x="4372698" y="3187076"/>
            <a:ext cx="6106325" cy="3316514"/>
          </a:xfrm>
          <a:prstGeom prst="rect">
            <a:avLst/>
          </a:prstGeom>
        </p:spPr>
      </p:pic>
      <p:sp>
        <p:nvSpPr>
          <p:cNvPr id="9" name="TextBox 8">
            <a:extLst>
              <a:ext uri="{FF2B5EF4-FFF2-40B4-BE49-F238E27FC236}">
                <a16:creationId xmlns:a16="http://schemas.microsoft.com/office/drawing/2014/main" id="{A9A6DDC5-9C34-B1B0-5A2A-5EC1C44B5353}"/>
              </a:ext>
            </a:extLst>
          </p:cNvPr>
          <p:cNvSpPr txBox="1"/>
          <p:nvPr/>
        </p:nvSpPr>
        <p:spPr>
          <a:xfrm>
            <a:off x="294444" y="1079230"/>
            <a:ext cx="2895599" cy="830997"/>
          </a:xfrm>
          <a:prstGeom prst="rect">
            <a:avLst/>
          </a:prstGeom>
          <a:noFill/>
        </p:spPr>
        <p:txBody>
          <a:bodyPr wrap="square">
            <a:spAutoFit/>
          </a:bodyPr>
          <a:lstStyle/>
          <a:p>
            <a:r>
              <a:rPr lang="en-US" sz="2400" i="1" dirty="0"/>
              <a:t>(3 repos with low existing coverage)</a:t>
            </a:r>
          </a:p>
        </p:txBody>
      </p:sp>
      <p:sp>
        <p:nvSpPr>
          <p:cNvPr id="12" name="Content Placeholder 12">
            <a:extLst>
              <a:ext uri="{FF2B5EF4-FFF2-40B4-BE49-F238E27FC236}">
                <a16:creationId xmlns:a16="http://schemas.microsoft.com/office/drawing/2014/main" id="{3BACF186-0847-896F-3BA3-8F178DEF0C39}"/>
              </a:ext>
            </a:extLst>
          </p:cNvPr>
          <p:cNvSpPr txBox="1">
            <a:spLocks/>
          </p:cNvSpPr>
          <p:nvPr/>
        </p:nvSpPr>
        <p:spPr>
          <a:xfrm>
            <a:off x="38370" y="4093028"/>
            <a:ext cx="3695430" cy="25254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Base model STILL competitive!</a:t>
            </a:r>
          </a:p>
          <a:p>
            <a:r>
              <a:rPr lang="en-US" dirty="0"/>
              <a:t>Directives and toolage are </a:t>
            </a:r>
            <a:r>
              <a:rPr lang="en-US" b="1" dirty="0"/>
              <a:t>not</a:t>
            </a:r>
            <a:r>
              <a:rPr lang="en-US" dirty="0"/>
              <a:t> the bottleneck</a:t>
            </a:r>
          </a:p>
        </p:txBody>
      </p:sp>
      <p:pic>
        <p:nvPicPr>
          <p:cNvPr id="14" name="Picture 13">
            <a:extLst>
              <a:ext uri="{FF2B5EF4-FFF2-40B4-BE49-F238E27FC236}">
                <a16:creationId xmlns:a16="http://schemas.microsoft.com/office/drawing/2014/main" id="{FE8F6A9B-419E-79E6-0A71-4B5EB96B5C7A}"/>
              </a:ext>
            </a:extLst>
          </p:cNvPr>
          <p:cNvPicPr>
            <a:picLocks noChangeAspect="1"/>
          </p:cNvPicPr>
          <p:nvPr/>
        </p:nvPicPr>
        <p:blipFill>
          <a:blip r:embed="rId4"/>
          <a:stretch>
            <a:fillRect/>
          </a:stretch>
        </p:blipFill>
        <p:spPr>
          <a:xfrm>
            <a:off x="759548" y="1910227"/>
            <a:ext cx="1598137" cy="1598137"/>
          </a:xfrm>
          <a:prstGeom prst="rect">
            <a:avLst/>
          </a:prstGeom>
        </p:spPr>
      </p:pic>
    </p:spTree>
    <p:extLst>
      <p:ext uri="{BB962C8B-B14F-4D97-AF65-F5344CB8AC3E}">
        <p14:creationId xmlns:p14="http://schemas.microsoft.com/office/powerpoint/2010/main" val="1693698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B9EEA-3022-97D2-CC1B-628C490B9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6D780-FEA2-405A-9119-C47C09CC880F}"/>
              </a:ext>
            </a:extLst>
          </p:cNvPr>
          <p:cNvSpPr>
            <a:spLocks noGrp="1"/>
          </p:cNvSpPr>
          <p:nvPr>
            <p:ph type="title"/>
          </p:nvPr>
        </p:nvSpPr>
        <p:spPr>
          <a:xfrm>
            <a:off x="-190500" y="0"/>
            <a:ext cx="4165600" cy="1325563"/>
          </a:xfrm>
        </p:spPr>
        <p:txBody>
          <a:bodyPr>
            <a:normAutofit fontScale="90000"/>
          </a:bodyPr>
          <a:lstStyle/>
          <a:p>
            <a:r>
              <a:rPr lang="en-US" dirty="0"/>
              <a:t>    Domain-specific  </a:t>
            </a:r>
            <a:br>
              <a:rPr lang="en-US" dirty="0"/>
            </a:br>
            <a:r>
              <a:rPr lang="en-US" dirty="0"/>
              <a:t>      Results</a:t>
            </a:r>
          </a:p>
        </p:txBody>
      </p:sp>
      <p:sp>
        <p:nvSpPr>
          <p:cNvPr id="9" name="TextBox 8">
            <a:extLst>
              <a:ext uri="{FF2B5EF4-FFF2-40B4-BE49-F238E27FC236}">
                <a16:creationId xmlns:a16="http://schemas.microsoft.com/office/drawing/2014/main" id="{969DB214-1572-342D-7174-157683346F5A}"/>
              </a:ext>
            </a:extLst>
          </p:cNvPr>
          <p:cNvSpPr txBox="1"/>
          <p:nvPr/>
        </p:nvSpPr>
        <p:spPr>
          <a:xfrm>
            <a:off x="294444" y="1079230"/>
            <a:ext cx="2895599" cy="1200329"/>
          </a:xfrm>
          <a:prstGeom prst="rect">
            <a:avLst/>
          </a:prstGeom>
          <a:noFill/>
        </p:spPr>
        <p:txBody>
          <a:bodyPr wrap="square">
            <a:spAutoFit/>
          </a:bodyPr>
          <a:lstStyle/>
          <a:p>
            <a:r>
              <a:rPr lang="en-US" sz="2400" i="1" dirty="0"/>
              <a:t>(3 bioinformatics repos with low existing coverage)</a:t>
            </a:r>
          </a:p>
        </p:txBody>
      </p:sp>
      <p:sp>
        <p:nvSpPr>
          <p:cNvPr id="12" name="Content Placeholder 12">
            <a:extLst>
              <a:ext uri="{FF2B5EF4-FFF2-40B4-BE49-F238E27FC236}">
                <a16:creationId xmlns:a16="http://schemas.microsoft.com/office/drawing/2014/main" id="{15A239E1-D816-871B-FC03-E6A2C2AEFD29}"/>
              </a:ext>
            </a:extLst>
          </p:cNvPr>
          <p:cNvSpPr txBox="1">
            <a:spLocks/>
          </p:cNvSpPr>
          <p:nvPr/>
        </p:nvSpPr>
        <p:spPr>
          <a:xfrm>
            <a:off x="38370" y="4093028"/>
            <a:ext cx="3086099" cy="25254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Results </a:t>
            </a:r>
            <a:r>
              <a:rPr lang="en-US" i="1" dirty="0"/>
              <a:t>inconsistent</a:t>
            </a:r>
          </a:p>
          <a:p>
            <a:r>
              <a:rPr lang="en-US" dirty="0"/>
              <a:t>Directives and specific toolage can </a:t>
            </a:r>
            <a:r>
              <a:rPr lang="en-US" b="1" dirty="0"/>
              <a:t>hinder</a:t>
            </a:r>
            <a:r>
              <a:rPr lang="en-US" dirty="0"/>
              <a:t> test suite refinement</a:t>
            </a:r>
          </a:p>
        </p:txBody>
      </p:sp>
      <p:pic>
        <p:nvPicPr>
          <p:cNvPr id="4" name="Picture 3">
            <a:extLst>
              <a:ext uri="{FF2B5EF4-FFF2-40B4-BE49-F238E27FC236}">
                <a16:creationId xmlns:a16="http://schemas.microsoft.com/office/drawing/2014/main" id="{32A55BF9-120E-E8FF-D250-AECD1324DC79}"/>
              </a:ext>
            </a:extLst>
          </p:cNvPr>
          <p:cNvPicPr>
            <a:picLocks noChangeAspect="1"/>
          </p:cNvPicPr>
          <p:nvPr/>
        </p:nvPicPr>
        <p:blipFill>
          <a:blip r:embed="rId3"/>
          <a:srcRect b="40327"/>
          <a:stretch>
            <a:fillRect/>
          </a:stretch>
        </p:blipFill>
        <p:spPr>
          <a:xfrm>
            <a:off x="3714489" y="1"/>
            <a:ext cx="8506311" cy="6858000"/>
          </a:xfrm>
          <a:prstGeom prst="rect">
            <a:avLst/>
          </a:prstGeom>
        </p:spPr>
      </p:pic>
      <p:pic>
        <p:nvPicPr>
          <p:cNvPr id="11" name="Picture 10">
            <a:extLst>
              <a:ext uri="{FF2B5EF4-FFF2-40B4-BE49-F238E27FC236}">
                <a16:creationId xmlns:a16="http://schemas.microsoft.com/office/drawing/2014/main" id="{90B6545B-0B6D-2B0F-5E7F-D3F92E44C48F}"/>
              </a:ext>
            </a:extLst>
          </p:cNvPr>
          <p:cNvPicPr>
            <a:picLocks noChangeAspect="1"/>
          </p:cNvPicPr>
          <p:nvPr/>
        </p:nvPicPr>
        <p:blipFill>
          <a:blip r:embed="rId4"/>
          <a:stretch>
            <a:fillRect/>
          </a:stretch>
        </p:blipFill>
        <p:spPr>
          <a:xfrm>
            <a:off x="818891" y="2138337"/>
            <a:ext cx="1876561" cy="1876561"/>
          </a:xfrm>
          <a:prstGeom prst="rect">
            <a:avLst/>
          </a:prstGeom>
        </p:spPr>
      </p:pic>
    </p:spTree>
    <p:extLst>
      <p:ext uri="{BB962C8B-B14F-4D97-AF65-F5344CB8AC3E}">
        <p14:creationId xmlns:p14="http://schemas.microsoft.com/office/powerpoint/2010/main" val="2313402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F4BDA-7CF4-74CB-24FF-32EB1841F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49FE0-4E51-9D6E-C0FE-F7E2198A1C5F}"/>
              </a:ext>
            </a:extLst>
          </p:cNvPr>
          <p:cNvSpPr>
            <a:spLocks noGrp="1"/>
          </p:cNvSpPr>
          <p:nvPr>
            <p:ph type="title"/>
          </p:nvPr>
        </p:nvSpPr>
        <p:spPr>
          <a:xfrm>
            <a:off x="-190500" y="0"/>
            <a:ext cx="4165600" cy="1325563"/>
          </a:xfrm>
        </p:spPr>
        <p:txBody>
          <a:bodyPr>
            <a:normAutofit fontScale="90000"/>
          </a:bodyPr>
          <a:lstStyle/>
          <a:p>
            <a:r>
              <a:rPr lang="en-US" dirty="0"/>
              <a:t>    Domain-specific  </a:t>
            </a:r>
            <a:br>
              <a:rPr lang="en-US" dirty="0"/>
            </a:br>
            <a:r>
              <a:rPr lang="en-US" dirty="0"/>
              <a:t>      Results (II)</a:t>
            </a:r>
          </a:p>
        </p:txBody>
      </p:sp>
      <p:sp>
        <p:nvSpPr>
          <p:cNvPr id="9" name="TextBox 8">
            <a:extLst>
              <a:ext uri="{FF2B5EF4-FFF2-40B4-BE49-F238E27FC236}">
                <a16:creationId xmlns:a16="http://schemas.microsoft.com/office/drawing/2014/main" id="{A5049AC3-FCFF-0CEC-107E-D76DDEBDE9EE}"/>
              </a:ext>
            </a:extLst>
          </p:cNvPr>
          <p:cNvSpPr txBox="1"/>
          <p:nvPr/>
        </p:nvSpPr>
        <p:spPr>
          <a:xfrm>
            <a:off x="294444" y="1079230"/>
            <a:ext cx="2895599" cy="1200329"/>
          </a:xfrm>
          <a:prstGeom prst="rect">
            <a:avLst/>
          </a:prstGeom>
          <a:noFill/>
        </p:spPr>
        <p:txBody>
          <a:bodyPr wrap="square">
            <a:spAutoFit/>
          </a:bodyPr>
          <a:lstStyle/>
          <a:p>
            <a:r>
              <a:rPr lang="en-US" sz="2400" i="1" dirty="0"/>
              <a:t>(3 bioinformatics repos with low existing coverage)</a:t>
            </a:r>
          </a:p>
        </p:txBody>
      </p:sp>
      <p:sp>
        <p:nvSpPr>
          <p:cNvPr id="12" name="Content Placeholder 12">
            <a:extLst>
              <a:ext uri="{FF2B5EF4-FFF2-40B4-BE49-F238E27FC236}">
                <a16:creationId xmlns:a16="http://schemas.microsoft.com/office/drawing/2014/main" id="{1A2E3C16-0262-4BF2-B6C7-1F518E8405E4}"/>
              </a:ext>
            </a:extLst>
          </p:cNvPr>
          <p:cNvSpPr txBox="1">
            <a:spLocks/>
          </p:cNvSpPr>
          <p:nvPr/>
        </p:nvSpPr>
        <p:spPr>
          <a:xfrm>
            <a:off x="38370" y="4093028"/>
            <a:ext cx="3086099" cy="25254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Results </a:t>
            </a:r>
            <a:r>
              <a:rPr lang="en-US" i="1" dirty="0"/>
              <a:t>inconsistent</a:t>
            </a:r>
          </a:p>
          <a:p>
            <a:r>
              <a:rPr lang="en-US" dirty="0"/>
              <a:t>Directives and specific toolage can </a:t>
            </a:r>
            <a:r>
              <a:rPr lang="en-US" b="1" dirty="0"/>
              <a:t>hinder</a:t>
            </a:r>
            <a:r>
              <a:rPr lang="en-US" dirty="0"/>
              <a:t> test suite refinement</a:t>
            </a:r>
          </a:p>
        </p:txBody>
      </p:sp>
      <p:pic>
        <p:nvPicPr>
          <p:cNvPr id="4" name="Picture 3">
            <a:extLst>
              <a:ext uri="{FF2B5EF4-FFF2-40B4-BE49-F238E27FC236}">
                <a16:creationId xmlns:a16="http://schemas.microsoft.com/office/drawing/2014/main" id="{8F8F9CA4-5304-BBE2-8934-4E7EB54F03DF}"/>
              </a:ext>
            </a:extLst>
          </p:cNvPr>
          <p:cNvPicPr>
            <a:picLocks noChangeAspect="1"/>
          </p:cNvPicPr>
          <p:nvPr/>
        </p:nvPicPr>
        <p:blipFill>
          <a:blip r:embed="rId3"/>
          <a:srcRect t="59673" b="20477"/>
          <a:stretch>
            <a:fillRect/>
          </a:stretch>
        </p:blipFill>
        <p:spPr>
          <a:xfrm>
            <a:off x="2775205" y="660808"/>
            <a:ext cx="9416795" cy="2525485"/>
          </a:xfrm>
          <a:prstGeom prst="rect">
            <a:avLst/>
          </a:prstGeom>
        </p:spPr>
      </p:pic>
      <p:pic>
        <p:nvPicPr>
          <p:cNvPr id="11" name="Picture 10">
            <a:extLst>
              <a:ext uri="{FF2B5EF4-FFF2-40B4-BE49-F238E27FC236}">
                <a16:creationId xmlns:a16="http://schemas.microsoft.com/office/drawing/2014/main" id="{17972C79-AB88-17CE-5F99-D88A80731DE4}"/>
              </a:ext>
            </a:extLst>
          </p:cNvPr>
          <p:cNvPicPr>
            <a:picLocks noChangeAspect="1"/>
          </p:cNvPicPr>
          <p:nvPr/>
        </p:nvPicPr>
        <p:blipFill>
          <a:blip r:embed="rId4"/>
          <a:stretch>
            <a:fillRect/>
          </a:stretch>
        </p:blipFill>
        <p:spPr>
          <a:xfrm>
            <a:off x="818891" y="2138337"/>
            <a:ext cx="1876561" cy="1876561"/>
          </a:xfrm>
          <a:prstGeom prst="rect">
            <a:avLst/>
          </a:prstGeom>
        </p:spPr>
      </p:pic>
      <p:pic>
        <p:nvPicPr>
          <p:cNvPr id="3" name="Picture 2">
            <a:extLst>
              <a:ext uri="{FF2B5EF4-FFF2-40B4-BE49-F238E27FC236}">
                <a16:creationId xmlns:a16="http://schemas.microsoft.com/office/drawing/2014/main" id="{9952BA80-747A-54AF-677E-6B336F997427}"/>
              </a:ext>
            </a:extLst>
          </p:cNvPr>
          <p:cNvPicPr>
            <a:picLocks noChangeAspect="1"/>
          </p:cNvPicPr>
          <p:nvPr/>
        </p:nvPicPr>
        <p:blipFill>
          <a:blip r:embed="rId3"/>
          <a:srcRect t="79008" r="48960"/>
          <a:stretch>
            <a:fillRect/>
          </a:stretch>
        </p:blipFill>
        <p:spPr>
          <a:xfrm>
            <a:off x="4404070" y="3129143"/>
            <a:ext cx="6176748" cy="3432220"/>
          </a:xfrm>
          <a:prstGeom prst="rect">
            <a:avLst/>
          </a:prstGeom>
        </p:spPr>
      </p:pic>
    </p:spTree>
    <p:extLst>
      <p:ext uri="{BB962C8B-B14F-4D97-AF65-F5344CB8AC3E}">
        <p14:creationId xmlns:p14="http://schemas.microsoft.com/office/powerpoint/2010/main" val="1415005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C192F-9078-7EDB-57FE-13ADD1B2E7B6}"/>
              </a:ext>
            </a:extLst>
          </p:cNvPr>
          <p:cNvSpPr>
            <a:spLocks noGrp="1"/>
          </p:cNvSpPr>
          <p:nvPr>
            <p:ph type="title"/>
          </p:nvPr>
        </p:nvSpPr>
        <p:spPr>
          <a:xfrm>
            <a:off x="209550" y="365125"/>
            <a:ext cx="11696700" cy="1325563"/>
          </a:xfrm>
        </p:spPr>
        <p:txBody>
          <a:bodyPr/>
          <a:lstStyle/>
          <a:p>
            <a:pPr algn="ctr"/>
            <a:r>
              <a:rPr lang="en-US" dirty="0"/>
              <a:t>Complementary workflow:</a:t>
            </a:r>
            <a:br>
              <a:rPr lang="en-US" dirty="0"/>
            </a:br>
            <a:r>
              <a:rPr lang="en-US" dirty="0"/>
              <a:t>AI-powered end-to-end webapp testing</a:t>
            </a:r>
          </a:p>
        </p:txBody>
      </p:sp>
      <p:sp>
        <p:nvSpPr>
          <p:cNvPr id="3" name="Content Placeholder 2">
            <a:extLst>
              <a:ext uri="{FF2B5EF4-FFF2-40B4-BE49-F238E27FC236}">
                <a16:creationId xmlns:a16="http://schemas.microsoft.com/office/drawing/2014/main" id="{541450E9-1545-764B-394A-3CDE7736C8B2}"/>
              </a:ext>
            </a:extLst>
          </p:cNvPr>
          <p:cNvSpPr>
            <a:spLocks noGrp="1"/>
          </p:cNvSpPr>
          <p:nvPr>
            <p:ph idx="1"/>
          </p:nvPr>
        </p:nvSpPr>
        <p:spPr>
          <a:xfrm>
            <a:off x="828675" y="2800350"/>
            <a:ext cx="10534650" cy="2514600"/>
          </a:xfrm>
        </p:spPr>
        <p:txBody>
          <a:bodyPr>
            <a:normAutofit/>
          </a:bodyPr>
          <a:lstStyle/>
          <a:p>
            <a:r>
              <a:rPr lang="en-US" dirty="0"/>
              <a:t>Demo(s):</a:t>
            </a:r>
          </a:p>
          <a:p>
            <a:pPr lvl="1"/>
            <a:r>
              <a:rPr lang="en-US" dirty="0"/>
              <a:t>Python library:</a:t>
            </a:r>
          </a:p>
          <a:p>
            <a:pPr lvl="2"/>
            <a:r>
              <a:rPr lang="en-US" dirty="0" err="1">
                <a:hlinkClick r:id="rId2"/>
              </a:rPr>
              <a:t>rhowardstone</a:t>
            </a:r>
            <a:r>
              <a:rPr lang="en-US" dirty="0">
                <a:hlinkClick r:id="rId2"/>
              </a:rPr>
              <a:t>/</a:t>
            </a:r>
            <a:r>
              <a:rPr lang="en-US" dirty="0" err="1">
                <a:hlinkClick r:id="rId2"/>
              </a:rPr>
              <a:t>testScout</a:t>
            </a:r>
            <a:r>
              <a:rPr lang="en-US" dirty="0">
                <a:hlinkClick r:id="rId2"/>
              </a:rPr>
              <a:t>: AI-driven Automatic End-to-End webapp testing</a:t>
            </a:r>
            <a:endParaRPr lang="en-US" dirty="0"/>
          </a:p>
          <a:p>
            <a:pPr lvl="1"/>
            <a:r>
              <a:rPr lang="en-US" dirty="0"/>
              <a:t>Audit-1 (Wikipedia)</a:t>
            </a:r>
          </a:p>
          <a:p>
            <a:pPr lvl="1"/>
            <a:r>
              <a:rPr lang="en-US" dirty="0"/>
              <a:t>Audit-2 (custom AI-career coach website I’m building for a friend)</a:t>
            </a:r>
          </a:p>
          <a:p>
            <a:pPr lvl="1"/>
            <a:endParaRPr lang="en-US" dirty="0"/>
          </a:p>
          <a:p>
            <a:endParaRPr lang="en-US" dirty="0"/>
          </a:p>
        </p:txBody>
      </p:sp>
    </p:spTree>
    <p:extLst>
      <p:ext uri="{BB962C8B-B14F-4D97-AF65-F5344CB8AC3E}">
        <p14:creationId xmlns:p14="http://schemas.microsoft.com/office/powerpoint/2010/main" val="4286685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2856</TotalTime>
  <Words>1309</Words>
  <Application>Microsoft Office PowerPoint</Application>
  <PresentationFormat>Widescreen</PresentationFormat>
  <Paragraphs>101</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Automated Test Suite Generation</vt:lpstr>
      <vt:lpstr>     Problem: Test Suites are Incomplete</vt:lpstr>
      <vt:lpstr>     The Question (midterm recap)</vt:lpstr>
      <vt:lpstr>     Methodology (midterm recap)</vt:lpstr>
      <vt:lpstr>    Preliminary          Results</vt:lpstr>
      <vt:lpstr>     Refined variants (new since midterm)</vt:lpstr>
      <vt:lpstr>    Refined          Results</vt:lpstr>
      <vt:lpstr>    Refined          Results (II)</vt:lpstr>
      <vt:lpstr>    Exploratory          Results</vt:lpstr>
      <vt:lpstr>    Exploratory          Results (II)</vt:lpstr>
      <vt:lpstr>    Domain-specific         Results</vt:lpstr>
      <vt:lpstr>    Domain-specific         Results (II)</vt:lpstr>
      <vt:lpstr>Complementary workflow: AI-powered end-to-end webapp testing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 HS</dc:creator>
  <cp:lastModifiedBy>R HS</cp:lastModifiedBy>
  <cp:revision>3</cp:revision>
  <dcterms:created xsi:type="dcterms:W3CDTF">2025-11-29T15:44:30Z</dcterms:created>
  <dcterms:modified xsi:type="dcterms:W3CDTF">2025-12-01T15:20:38Z</dcterms:modified>
</cp:coreProperties>
</file>